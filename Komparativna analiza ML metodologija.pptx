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8FAFC"/>
    <a:srgbClr val="2563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75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843B6D-3163-47C3-9DB9-B6EA961A85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562C81-D2B1-4B5E-A3B8-82BEAE4F20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702CBA-94DC-4429-A4DD-669E160C5B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66B63C-CDDC-45F1-A941-1E23D4E81951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BB2272-A89D-4DA5-B536-D3A04518E4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991EB3-BB83-4A04-8DA5-48AC53C32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5CBB4-1A77-4C92-B544-DE0448FC56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30280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5595DC-4846-499A-9AE3-BD42BAC49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3B019D-F32C-4F0C-91F6-5233A04EFE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7ABA5E-8F00-4A33-8387-2D21E48B22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66B63C-CDDC-45F1-A941-1E23D4E81951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51E93E-323C-42B9-B9CD-9C92464530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2F370D-5722-4E2F-9E79-89E6E60526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5CBB4-1A77-4C92-B544-DE0448FC56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2072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CFF12F-2C45-419A-A705-E1A60F14A1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7AE991-E608-49F4-8BD6-AFA730C620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0DC662-FBCD-41BF-A8D6-5CB57FFE1F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66B63C-CDDC-45F1-A941-1E23D4E81951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C7C2BE-02A3-4D8A-99C1-5BE0E74E2A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253542-0F25-4070-A47F-8E6A8EC44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5CBB4-1A77-4C92-B544-DE0448FC56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56397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D3CFD8-ACB2-46C7-9CF3-C9E9B4DA6E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88796B-0D0C-4FB4-B9D1-C407ABEF9FF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E7CE8F-556F-446F-859D-92BD1A6DFC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E42BC8-8C0A-4A9C-97AE-D98523FBB5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66B63C-CDDC-45F1-A941-1E23D4E81951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1AF4B8-8B65-4D96-8EB4-0A2C8647BA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2A9D25-2D13-46A1-9C35-2B47201B2F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5CBB4-1A77-4C92-B544-DE0448FC56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12473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ECFD9D-1CF7-47DB-8130-FCCA0C41E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C54DF0-5840-43D0-BFEB-8BD9F9B067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273804-2CC3-4D72-A4C5-0C1FFC10A5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3296EB3-B331-4C74-B1DF-5BF3D2499B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4537DC6-D9B3-4B8F-84F0-03CDEB4AC4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FA16214-5154-4548-8C62-75E31BC31C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66B63C-CDDC-45F1-A941-1E23D4E81951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CBEB425-358F-44A5-836D-AC35AF849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72706DA-0A0C-4869-93B7-9479174D07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5CBB4-1A77-4C92-B544-DE0448FC56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96129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471B4-E30C-4F3F-B8A0-7DD6E6B871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A2E56A3-1551-41A6-989E-5692F87EA1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66B63C-CDDC-45F1-A941-1E23D4E81951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F01AEC-C94D-43F8-97E6-12F4454CD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0B8DCC-2BE3-4752-B70C-C0CE12DB75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5CBB4-1A77-4C92-B544-DE0448FC56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00773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765200E-32B4-4F5A-B311-9DCC76FAFC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66B63C-CDDC-45F1-A941-1E23D4E81951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74961B0-5EC7-4890-A0EB-86A108AF4F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20ACC5-0875-4E07-8A28-8BCF83B953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5CBB4-1A77-4C92-B544-DE0448FC56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8845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F4900-188E-4DC3-96E6-99D9675B34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CD825F-FDE7-484E-84B4-9966DE5264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EDBBEF-FC4B-4F44-A244-F0FE4564B7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C56A5E-EA9B-4FEB-A0FD-2386FEB324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66B63C-CDDC-45F1-A941-1E23D4E81951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1353D0-70C5-4594-919C-F065CDE470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15FDBD-DC20-4E4F-9B5F-5F11B01463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5CBB4-1A77-4C92-B544-DE0448FC56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68102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C6E1B3-A72F-4D2A-94CE-A678E707A5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83ABE76-5ACB-4BE4-B46B-EAE595CAD87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C28920-B350-44EB-A6D2-8C7917EB01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3BC412-E77C-4857-BDF8-9CBA47854A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66B63C-CDDC-45F1-A941-1E23D4E81951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913BAA-0590-4BB6-8329-3D50C158D2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89DD94-A046-42E7-8478-AA879A4240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5CBB4-1A77-4C92-B544-DE0448FC56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54545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A767A2-731D-4D61-A128-DD329A62C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54BE0D-35C1-4EBA-8D27-AB4F28F53E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3FAEA0-6188-4BCA-9936-D40496BFCC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66B63C-CDDC-45F1-A941-1E23D4E81951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892FD-79B6-4EC3-B725-FB600946CE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574E9D-1A45-42A5-A923-E9748B3F8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5CBB4-1A77-4C92-B544-DE0448FC56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50932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DEA79EA-D7E8-445C-B5D5-8414B10CFA2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E78FAE-8400-4566-99BC-72B8451A21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7FB3A0-B99D-4B67-B95D-8172842FEB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66B63C-CDDC-45F1-A941-1E23D4E81951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ED1D7A-3BAC-4F4D-998C-ECBA6F9DD8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FBB05C-99C6-408E-927F-835B32494E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5CBB4-1A77-4C92-B544-DE0448FC56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85063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94F911E-A021-4FA1-93F6-42150D077A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313C43-FC44-4A2B-86DE-BEB64887E9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47145B-8B9E-4706-B6E0-73A36ED1ADE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66B63C-CDDC-45F1-A941-1E23D4E81951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79BC06-E26C-40A6-A181-7F27BC34D5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6ED9C6-D83D-4A48-8B7A-214CD1D211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C5CBB4-1A77-4C92-B544-DE0448FC56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42273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F7DB36-990C-47F5-9AEA-61517AE1D15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Komparativna</a:t>
            </a:r>
            <a:r>
              <a:rPr lang="en-US" dirty="0"/>
              <a:t> </a:t>
            </a:r>
            <a:r>
              <a:rPr lang="en-US" dirty="0" err="1"/>
              <a:t>analiza</a:t>
            </a:r>
            <a:r>
              <a:rPr lang="en-US" dirty="0"/>
              <a:t> ML </a:t>
            </a:r>
            <a:r>
              <a:rPr lang="en-US" dirty="0" err="1"/>
              <a:t>metodologija</a:t>
            </a: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A947D18-48E6-4BEF-BF23-5070FB7F27B4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523999" y="4296302"/>
            <a:ext cx="9143999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Evaluacija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C# u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odnosu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na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Python za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modeliranje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raka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pluća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97400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7D0674-6526-4A1C-915D-2FD7B7885B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92186"/>
            <a:ext cx="3932237" cy="651887"/>
          </a:xfrm>
        </p:spPr>
        <p:txBody>
          <a:bodyPr/>
          <a:lstStyle/>
          <a:p>
            <a:r>
              <a:rPr lang="en-US" dirty="0" err="1"/>
              <a:t>Cilj</a:t>
            </a:r>
            <a:r>
              <a:rPr lang="bs-Latn-BA" dirty="0"/>
              <a:t> rada</a:t>
            </a:r>
            <a:endParaRPr 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331A224-2A83-4CFB-A34A-F884690CC3D8}"/>
              </a:ext>
            </a:extLst>
          </p:cNvPr>
          <p:cNvSpPr txBox="1"/>
          <p:nvPr/>
        </p:nvSpPr>
        <p:spPr>
          <a:xfrm>
            <a:off x="836612" y="1890117"/>
            <a:ext cx="3731491" cy="30777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/>
              <a:t>Cilj</a:t>
            </a:r>
            <a:r>
              <a:rPr lang="en-US" sz="1400" dirty="0"/>
              <a:t> </a:t>
            </a:r>
            <a:r>
              <a:rPr lang="en-US" sz="1400" dirty="0" err="1"/>
              <a:t>ovog</a:t>
            </a:r>
            <a:r>
              <a:rPr lang="en-US" sz="1400" dirty="0"/>
              <a:t> </a:t>
            </a:r>
            <a:r>
              <a:rPr lang="en-US" sz="1400" dirty="0" err="1"/>
              <a:t>rada</a:t>
            </a:r>
            <a:r>
              <a:rPr lang="en-US" sz="1400" dirty="0"/>
              <a:t> </a:t>
            </a:r>
            <a:r>
              <a:rPr lang="en-US" sz="1400" dirty="0" err="1"/>
              <a:t>jeste</a:t>
            </a:r>
            <a:r>
              <a:rPr lang="en-US" sz="1400" dirty="0"/>
              <a:t> </a:t>
            </a:r>
            <a:r>
              <a:rPr lang="en-US" sz="1400" dirty="0" err="1"/>
              <a:t>uporedba</a:t>
            </a:r>
            <a:r>
              <a:rPr lang="en-US" sz="1400" dirty="0"/>
              <a:t> </a:t>
            </a:r>
            <a:r>
              <a:rPr lang="en-US" sz="1400" dirty="0" err="1"/>
              <a:t>metodologija</a:t>
            </a:r>
            <a:r>
              <a:rPr lang="en-US" sz="1400" dirty="0"/>
              <a:t> ma</a:t>
            </a:r>
            <a:r>
              <a:rPr lang="bs-Latn-BA" sz="1400" dirty="0"/>
              <a:t>šinskog učenja u C# i Python ekosistemima. Poređenje se gleda na osnovu brzine treniranja, tačnosti modela, kompleksnosti implementacije, aktivnosti ekosistema.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bs-Latn-BA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bs-Latn-BA" sz="1400" dirty="0"/>
              <a:t>Domena</a:t>
            </a:r>
            <a:r>
              <a:rPr lang="en-US" sz="1400" dirty="0"/>
              <a:t>: </a:t>
            </a:r>
            <a:r>
              <a:rPr lang="en-US" sz="1400" dirty="0" err="1"/>
              <a:t>Analiza</a:t>
            </a:r>
            <a:r>
              <a:rPr lang="en-US" sz="1400" dirty="0"/>
              <a:t> CT </a:t>
            </a:r>
            <a:r>
              <a:rPr lang="en-US" sz="1400" dirty="0" err="1"/>
              <a:t>slika</a:t>
            </a:r>
            <a:r>
              <a:rPr lang="en-US" sz="1400" dirty="0"/>
              <a:t> </a:t>
            </a:r>
            <a:r>
              <a:rPr lang="en-US" sz="1400" dirty="0" err="1"/>
              <a:t>raka</a:t>
            </a:r>
            <a:r>
              <a:rPr lang="en-US" sz="1400" dirty="0"/>
              <a:t> </a:t>
            </a:r>
            <a:r>
              <a:rPr lang="en-US" sz="1400" dirty="0" err="1"/>
              <a:t>plu</a:t>
            </a:r>
            <a:r>
              <a:rPr lang="bs-Latn-BA" sz="1400" dirty="0"/>
              <a:t>ća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bs-Latn-BA" sz="1400" dirty="0"/>
              <a:t>C# Okruženje</a:t>
            </a:r>
            <a:r>
              <a:rPr lang="en-US" sz="1400" dirty="0"/>
              <a:t>: </a:t>
            </a:r>
            <a:r>
              <a:rPr lang="bs-Latn-BA" sz="1400" dirty="0"/>
              <a:t>Treniranje </a:t>
            </a:r>
            <a:r>
              <a:rPr lang="en-US" sz="1400" dirty="0"/>
              <a:t> </a:t>
            </a:r>
            <a:r>
              <a:rPr lang="en-US" sz="1400" dirty="0" err="1"/>
              <a:t>uz</a:t>
            </a:r>
            <a:r>
              <a:rPr lang="en-US" sz="1400" dirty="0"/>
              <a:t> </a:t>
            </a:r>
            <a:r>
              <a:rPr lang="en-US" sz="1400" dirty="0" err="1"/>
              <a:t>pomo</a:t>
            </a:r>
            <a:r>
              <a:rPr lang="bs-Latn-BA" sz="1400" dirty="0"/>
              <a:t>ć TorchSharp alata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bs-Latn-BA" sz="1400" dirty="0"/>
              <a:t>Python okruženje</a:t>
            </a:r>
            <a:r>
              <a:rPr lang="en-US" sz="1400" dirty="0"/>
              <a:t>: </a:t>
            </a:r>
            <a:r>
              <a:rPr lang="en-US" sz="1400" dirty="0" err="1"/>
              <a:t>Treniranje</a:t>
            </a:r>
            <a:r>
              <a:rPr lang="en-US" sz="1400" dirty="0"/>
              <a:t> </a:t>
            </a:r>
            <a:r>
              <a:rPr lang="en-US" sz="1400" dirty="0" err="1"/>
              <a:t>uz</a:t>
            </a:r>
            <a:r>
              <a:rPr lang="en-US" sz="1400" dirty="0"/>
              <a:t> </a:t>
            </a:r>
            <a:r>
              <a:rPr lang="en-US" sz="1400" dirty="0" err="1"/>
              <a:t>pomo</a:t>
            </a:r>
            <a:r>
              <a:rPr lang="bs-Latn-BA" sz="1400" dirty="0"/>
              <a:t>ć keras alata</a:t>
            </a:r>
          </a:p>
          <a:p>
            <a:endParaRPr lang="bs-Latn-BA" dirty="0"/>
          </a:p>
          <a:p>
            <a:r>
              <a:rPr lang="bs-Latn-BA" dirty="0"/>
              <a:t> </a:t>
            </a:r>
          </a:p>
        </p:txBody>
      </p:sp>
      <p:pic>
        <p:nvPicPr>
          <p:cNvPr id="32" name="Picture Placeholder 31">
            <a:extLst>
              <a:ext uri="{FF2B5EF4-FFF2-40B4-BE49-F238E27FC236}">
                <a16:creationId xmlns:a16="http://schemas.microsoft.com/office/drawing/2014/main" id="{970327FF-8C6E-4B62-B02E-F2CB02578430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3" r="853"/>
          <a:stretch>
            <a:fillRect/>
          </a:stretch>
        </p:blipFill>
        <p:spPr>
          <a:prstGeom prst="roundRect">
            <a:avLst>
              <a:gd name="adj" fmla="val 5865"/>
            </a:avLst>
          </a:prstGeom>
          <a:effectLst>
            <a:softEdge rad="0"/>
          </a:effectLst>
        </p:spPr>
      </p:pic>
    </p:spTree>
    <p:extLst>
      <p:ext uri="{BB962C8B-B14F-4D97-AF65-F5344CB8AC3E}">
        <p14:creationId xmlns:p14="http://schemas.microsoft.com/office/powerpoint/2010/main" val="29951742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B6A35C-F492-465D-B8E4-9484DDBCD2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884342"/>
            <a:ext cx="3932237" cy="614218"/>
          </a:xfrm>
        </p:spPr>
        <p:txBody>
          <a:bodyPr/>
          <a:lstStyle/>
          <a:p>
            <a:r>
              <a:rPr lang="en-US" dirty="0" err="1"/>
              <a:t>Arhitektura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0DC994-20B6-4350-BF13-D82EBFDEB5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865745"/>
            <a:ext cx="3932237" cy="4003243"/>
          </a:xfrm>
        </p:spPr>
        <p:txBody>
          <a:bodyPr/>
          <a:lstStyle/>
          <a:p>
            <a:r>
              <a:rPr lang="en-US" dirty="0" err="1"/>
              <a:t>Sistem</a:t>
            </a:r>
            <a:r>
              <a:rPr lang="en-US" dirty="0"/>
              <a:t> je </a:t>
            </a:r>
            <a:r>
              <a:rPr lang="en-US" dirty="0" err="1"/>
              <a:t>organiziran</a:t>
            </a:r>
            <a:r>
              <a:rPr lang="en-US" dirty="0"/>
              <a:t> </a:t>
            </a:r>
            <a:r>
              <a:rPr lang="en-US" dirty="0" err="1"/>
              <a:t>uz</a:t>
            </a:r>
            <a:r>
              <a:rPr lang="en-US" dirty="0"/>
              <a:t> </a:t>
            </a:r>
            <a:r>
              <a:rPr lang="en-US" dirty="0" err="1"/>
              <a:t>pomo</a:t>
            </a:r>
            <a:r>
              <a:rPr lang="bs-Latn-BA" dirty="0"/>
              <a:t>ć .NET Aspire koji povezuje oba okruženja I web interfejs.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bs-Latn-BA" dirty="0"/>
              <a:t>C# Web Api</a:t>
            </a:r>
            <a:r>
              <a:rPr lang="en-US" dirty="0"/>
              <a:t>(</a:t>
            </a:r>
            <a:r>
              <a:rPr lang="en-US" dirty="0" err="1"/>
              <a:t>apiservice</a:t>
            </a:r>
            <a:r>
              <a:rPr lang="en-US" dirty="0"/>
              <a:t>): </a:t>
            </a:r>
            <a:r>
              <a:rPr lang="de-DE" dirty="0"/>
              <a:t>Slu</a:t>
            </a:r>
            <a:r>
              <a:rPr lang="bs-Latn-BA" dirty="0"/>
              <a:t>ži za treniranje C# modela, analizu te sačuvanju podataka u SQLite bazu podataka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bs-Latn-BA" dirty="0"/>
              <a:t>Python Fast API</a:t>
            </a:r>
            <a:r>
              <a:rPr lang="en-US" dirty="0"/>
              <a:t>(python-</a:t>
            </a:r>
            <a:r>
              <a:rPr lang="en-US" dirty="0" err="1"/>
              <a:t>api</a:t>
            </a:r>
            <a:r>
              <a:rPr lang="en-US" dirty="0"/>
              <a:t>)</a:t>
            </a:r>
            <a:r>
              <a:rPr lang="bs-Latn-BA" dirty="0"/>
              <a:t>: Služi za treniranje Python modela 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Blazor</a:t>
            </a:r>
            <a:r>
              <a:rPr lang="en-US" dirty="0"/>
              <a:t> Server(</a:t>
            </a:r>
            <a:r>
              <a:rPr lang="en-US" dirty="0" err="1"/>
              <a:t>webfrontend</a:t>
            </a:r>
            <a:r>
              <a:rPr lang="en-US" dirty="0"/>
              <a:t>)</a:t>
            </a:r>
            <a:r>
              <a:rPr lang="bs-Latn-BA" dirty="0"/>
              <a:t>: Služi za prikaz UI aplikacije te mogućnost treniranja novih modela, analizu uz postojeće modele, pregled i brisanje te uporedba performansi modela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bs-Latn-BA" dirty="0"/>
          </a:p>
          <a:p>
            <a:pPr marL="285750" indent="-285750">
              <a:buFontTx/>
              <a:buChar char="-"/>
            </a:pPr>
            <a:endParaRPr lang="bs-Latn-BA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5A52407-54AF-40F2-A8D1-D2733E61C1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2025" y="884342"/>
            <a:ext cx="6735115" cy="4706007"/>
          </a:xfrm>
          <a:prstGeom prst="roundRect">
            <a:avLst>
              <a:gd name="adj" fmla="val 9209"/>
            </a:avLst>
          </a:prstGeom>
        </p:spPr>
      </p:pic>
    </p:spTree>
    <p:extLst>
      <p:ext uri="{BB962C8B-B14F-4D97-AF65-F5344CB8AC3E}">
        <p14:creationId xmlns:p14="http://schemas.microsoft.com/office/powerpoint/2010/main" val="24052849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F58A7F-1010-491C-BFF6-2A90346220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4610753" cy="1600200"/>
          </a:xfrm>
        </p:spPr>
        <p:txBody>
          <a:bodyPr/>
          <a:lstStyle/>
          <a:p>
            <a:r>
              <a:rPr lang="en-US" dirty="0" err="1"/>
              <a:t>Uporedba</a:t>
            </a:r>
            <a:r>
              <a:rPr lang="en-US" dirty="0"/>
              <a:t> </a:t>
            </a:r>
            <a:r>
              <a:rPr lang="en-US" dirty="0" err="1"/>
              <a:t>rezultata</a:t>
            </a:r>
            <a:r>
              <a:rPr lang="en-US" dirty="0"/>
              <a:t>: </a:t>
            </a:r>
            <a:r>
              <a:rPr lang="en-US" dirty="0" err="1"/>
              <a:t>Odziv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FCEF3B-39E0-42A6-8CA7-9A6660D2F2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85012" y="987425"/>
            <a:ext cx="5770376" cy="4873625"/>
          </a:xfrm>
        </p:spPr>
        <p:txBody>
          <a:bodyPr/>
          <a:lstStyle/>
          <a:p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 Placeholder 3">
                <a:extLst>
                  <a:ext uri="{FF2B5EF4-FFF2-40B4-BE49-F238E27FC236}">
                    <a16:creationId xmlns:a16="http://schemas.microsoft.com/office/drawing/2014/main" id="{D1015D11-8193-46C8-9F1E-A086BF9A93F7}"/>
                  </a:ext>
                </a:extLst>
              </p:cNvPr>
              <p:cNvSpPr>
                <a:spLocks noGrp="1"/>
              </p:cNvSpPr>
              <p:nvPr>
                <p:ph type="body" sz="half" idx="2"/>
              </p:nvPr>
            </p:nvSpPr>
            <p:spPr>
              <a:xfrm>
                <a:off x="839788" y="2057400"/>
                <a:ext cx="4610753" cy="3811588"/>
              </a:xfrm>
            </p:spPr>
            <p:txBody>
              <a:bodyPr/>
              <a:lstStyle/>
              <a:p>
                <a:r>
                  <a:rPr lang="en-US" b="1" dirty="0" err="1"/>
                  <a:t>Odziv</a:t>
                </a:r>
                <a:r>
                  <a:rPr lang="en-US" b="1" dirty="0"/>
                  <a:t> / </a:t>
                </a:r>
                <a:r>
                  <a:rPr lang="en-US" b="1" dirty="0" err="1"/>
                  <a:t>Osjetljivost</a:t>
                </a:r>
                <a:r>
                  <a:rPr lang="en-US" b="1" dirty="0"/>
                  <a:t> (Recall):</a:t>
                </a:r>
                <a:r>
                  <a:rPr lang="en-US" dirty="0"/>
                  <a:t> </a:t>
                </a:r>
                <a:r>
                  <a:rPr lang="en-US" dirty="0" err="1"/>
                  <a:t>Najvažnija</a:t>
                </a:r>
                <a:r>
                  <a:rPr lang="en-US" dirty="0"/>
                  <a:t> </a:t>
                </a:r>
                <a:r>
                  <a:rPr lang="en-US" dirty="0" err="1"/>
                  <a:t>metrika</a:t>
                </a:r>
                <a:r>
                  <a:rPr lang="en-US" dirty="0"/>
                  <a:t> u </a:t>
                </a:r>
                <a:r>
                  <a:rPr lang="en-US" dirty="0" err="1"/>
                  <a:t>medicinskoj</a:t>
                </a:r>
                <a:r>
                  <a:rPr lang="en-US" dirty="0"/>
                  <a:t> </a:t>
                </a:r>
                <a:r>
                  <a:rPr lang="en-US" dirty="0" err="1"/>
                  <a:t>dijagnostici</a:t>
                </a:r>
                <a:r>
                  <a:rPr lang="en-US" dirty="0"/>
                  <a:t>. </a:t>
                </a:r>
                <a:r>
                  <a:rPr lang="en-US" dirty="0" err="1"/>
                  <a:t>Mjeri</a:t>
                </a:r>
                <a:r>
                  <a:rPr lang="en-US" dirty="0"/>
                  <a:t> </a:t>
                </a:r>
                <a:r>
                  <a:rPr lang="en-US" dirty="0" err="1"/>
                  <a:t>procenat</a:t>
                </a:r>
                <a:r>
                  <a:rPr lang="en-US" dirty="0"/>
                  <a:t> </a:t>
                </a:r>
                <a:r>
                  <a:rPr lang="en-US" dirty="0" err="1"/>
                  <a:t>stvarnih</a:t>
                </a:r>
                <a:r>
                  <a:rPr lang="en-US" dirty="0"/>
                  <a:t> </a:t>
                </a:r>
                <a:r>
                  <a:rPr lang="en-US" dirty="0" err="1"/>
                  <a:t>slučajeva</a:t>
                </a:r>
                <a:r>
                  <a:rPr lang="en-US" dirty="0"/>
                  <a:t> </a:t>
                </a:r>
                <a:r>
                  <a:rPr lang="en-US" dirty="0" err="1"/>
                  <a:t>raka</a:t>
                </a:r>
                <a:r>
                  <a:rPr lang="en-US" dirty="0"/>
                  <a:t> </a:t>
                </a:r>
                <a:r>
                  <a:rPr lang="en-US" dirty="0" err="1"/>
                  <a:t>koje</a:t>
                </a:r>
                <a:r>
                  <a:rPr lang="en-US" dirty="0"/>
                  <a:t> je model </a:t>
                </a:r>
                <a:r>
                  <a:rPr lang="en-US" dirty="0" err="1"/>
                  <a:t>uspješno</a:t>
                </a:r>
                <a:r>
                  <a:rPr lang="en-US" dirty="0"/>
                  <a:t> </a:t>
                </a:r>
                <a:r>
                  <a:rPr lang="en-US" dirty="0" err="1"/>
                  <a:t>pronašao</a:t>
                </a:r>
                <a:r>
                  <a:rPr lang="en-US" dirty="0"/>
                  <a:t>. </a:t>
                </a:r>
                <a:r>
                  <a:rPr lang="en-US" dirty="0" err="1"/>
                  <a:t>Cilj</a:t>
                </a:r>
                <a:r>
                  <a:rPr lang="en-US" dirty="0"/>
                  <a:t> je </a:t>
                </a:r>
                <a:r>
                  <a:rPr lang="en-US" dirty="0" err="1"/>
                  <a:t>minimizirati</a:t>
                </a:r>
                <a:r>
                  <a:rPr lang="en-US" dirty="0"/>
                  <a:t> </a:t>
                </a:r>
                <a:r>
                  <a:rPr lang="en-US" dirty="0" err="1"/>
                  <a:t>lažno</a:t>
                </a:r>
                <a:r>
                  <a:rPr lang="en-US" dirty="0"/>
                  <a:t> </a:t>
                </a:r>
                <a:r>
                  <a:rPr lang="en-US" dirty="0" err="1"/>
                  <a:t>negativne</a:t>
                </a:r>
                <a:r>
                  <a:rPr lang="en-US" dirty="0"/>
                  <a:t> </a:t>
                </a:r>
                <a:r>
                  <a:rPr lang="en-US" dirty="0" err="1"/>
                  <a:t>rezultate</a:t>
                </a:r>
                <a:r>
                  <a:rPr lang="en-US" dirty="0"/>
                  <a:t> (</a:t>
                </a:r>
                <a:r>
                  <a:rPr lang="en-US" dirty="0" err="1"/>
                  <a:t>propuštene</a:t>
                </a:r>
                <a:r>
                  <a:rPr lang="en-US" dirty="0"/>
                  <a:t> </a:t>
                </a:r>
                <a:r>
                  <a:rPr lang="en-US" dirty="0" err="1"/>
                  <a:t>dijagnoze</a:t>
                </a:r>
                <a:r>
                  <a:rPr lang="en-US" dirty="0"/>
                  <a:t>).</a:t>
                </a:r>
              </a:p>
              <a:p>
                <a:endParaRPr lang="en-US" dirty="0"/>
              </a:p>
              <a:p>
                <a:r>
                  <a:rPr lang="en-US" dirty="0" err="1"/>
                  <a:t>Odziv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l-GR" i="1" smtClean="0">
                        <a:latin typeface="Cambria Math" panose="02040503050406030204" pitchFamily="18" charset="0"/>
                      </a:rPr>
                      <m:t>𝜋</m:t>
                    </m:r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4" name="Text Placeholder 3">
                <a:extLst>
                  <a:ext uri="{FF2B5EF4-FFF2-40B4-BE49-F238E27FC236}">
                    <a16:creationId xmlns:a16="http://schemas.microsoft.com/office/drawing/2014/main" id="{D1015D11-8193-46C8-9F1E-A086BF9A93F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2"/>
              </p:nvPr>
            </p:nvSpPr>
            <p:spPr>
              <a:xfrm>
                <a:off x="839788" y="2057400"/>
                <a:ext cx="4610753" cy="3811588"/>
              </a:xfrm>
              <a:blipFill>
                <a:blip r:embed="rId2"/>
                <a:stretch>
                  <a:fillRect l="-794" t="-11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33600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776C1C-E291-4624-99D2-06E92328B0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Uporedba</a:t>
            </a:r>
            <a:r>
              <a:rPr lang="en-US" dirty="0"/>
              <a:t> </a:t>
            </a:r>
            <a:r>
              <a:rPr lang="en-US" dirty="0" err="1"/>
              <a:t>rezultata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067341-0E32-4231-8CF8-8A47069858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200" dirty="0"/>
              <a:t>Da </a:t>
            </a:r>
            <a:r>
              <a:rPr lang="en-US" sz="1200" dirty="0" err="1"/>
              <a:t>bismo</a:t>
            </a:r>
            <a:r>
              <a:rPr lang="en-US" sz="1200" dirty="0"/>
              <a:t> </a:t>
            </a:r>
            <a:r>
              <a:rPr lang="en-US" sz="1200" dirty="0" err="1"/>
              <a:t>bili</a:t>
            </a:r>
            <a:r>
              <a:rPr lang="en-US" sz="1200" dirty="0"/>
              <a:t> u </a:t>
            </a:r>
            <a:r>
              <a:rPr lang="en-US" sz="1200" dirty="0" err="1"/>
              <a:t>mogu</a:t>
            </a:r>
            <a:r>
              <a:rPr lang="bs-Latn-BA" sz="1200" dirty="0"/>
              <a:t>ćnosti da upoređujemo modele mašinskog učenja koristimo par zajedničkih metrika poput odziva, preciznost i f1 skora. Da bismo ove metrike mogli izračunati moramo prvo definisati određene parametre koji će nam pomoći prilikom računanja datih metrika.</a:t>
            </a:r>
          </a:p>
          <a:p>
            <a:pPr marL="0" indent="0">
              <a:buNone/>
            </a:pPr>
            <a:r>
              <a:rPr lang="bs-Latn-BA" sz="1200" dirty="0"/>
              <a:t> - True Positive ili 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3015223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2067</TotalTime>
  <Words>251</Words>
  <Application>Microsoft Office PowerPoint</Application>
  <PresentationFormat>Widescreen</PresentationFormat>
  <Paragraphs>22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Arial Unicode MS</vt:lpstr>
      <vt:lpstr>Calibri</vt:lpstr>
      <vt:lpstr>Calibri Light</vt:lpstr>
      <vt:lpstr>Cambria Math</vt:lpstr>
      <vt:lpstr>Office Theme</vt:lpstr>
      <vt:lpstr>Komparativna analiza ML metodologija</vt:lpstr>
      <vt:lpstr>Cilj rada</vt:lpstr>
      <vt:lpstr>Arhitektura</vt:lpstr>
      <vt:lpstr>Uporedba rezultata: Odziv</vt:lpstr>
      <vt:lpstr>Uporedba rezultata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Komparativna analiza ML metodologija</dc:title>
  <dc:creator>Administrator</dc:creator>
  <cp:lastModifiedBy>Administrator</cp:lastModifiedBy>
  <cp:revision>9</cp:revision>
  <dcterms:created xsi:type="dcterms:W3CDTF">2026-05-21T11:24:01Z</dcterms:created>
  <dcterms:modified xsi:type="dcterms:W3CDTF">2026-05-28T17:48:07Z</dcterms:modified>
</cp:coreProperties>
</file>