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62" r:id="rId4"/>
    <p:sldId id="266" r:id="rId5"/>
    <p:sldId id="267" r:id="rId6"/>
    <p:sldId id="271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56121" autoAdjust="0"/>
  </p:normalViewPr>
  <p:slideViewPr>
    <p:cSldViewPr snapToGrid="0">
      <p:cViewPr varScale="1">
        <p:scale>
          <a:sx n="87" d="100"/>
          <a:sy n="87" d="100"/>
        </p:scale>
        <p:origin x="29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A90D3-49B2-4DF6-BAF7-8B743C4BA0C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0A785-91A4-4858-91F9-18C65D64E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4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Graf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Python </a:t>
            </a:r>
            <a:r>
              <a:rPr lang="en-US" dirty="0" err="1"/>
              <a:t>dominira</a:t>
            </a:r>
            <a:r>
              <a:rPr lang="en-US" dirty="0"/>
              <a:t> u </a:t>
            </a:r>
            <a:r>
              <a:rPr lang="en-US" dirty="0" err="1"/>
              <a:t>području</a:t>
            </a:r>
            <a:r>
              <a:rPr lang="en-US" dirty="0"/>
              <a:t> </a:t>
            </a:r>
            <a:r>
              <a:rPr lang="en-US" dirty="0" err="1"/>
              <a:t>mašinskog</a:t>
            </a:r>
            <a:r>
              <a:rPr lang="en-US" dirty="0"/>
              <a:t> </a:t>
            </a:r>
            <a:r>
              <a:rPr lang="en-US" dirty="0" err="1"/>
              <a:t>učenja</a:t>
            </a:r>
            <a:r>
              <a:rPr lang="en-US" dirty="0"/>
              <a:t>.</a:t>
            </a:r>
          </a:p>
          <a:p>
            <a:pPr rtl="0"/>
            <a:r>
              <a:rPr lang="en-US" dirty="0" err="1"/>
              <a:t>Dodatna</a:t>
            </a:r>
            <a:r>
              <a:rPr lang="en-US" dirty="0"/>
              <a:t> </a:t>
            </a:r>
            <a:r>
              <a:rPr lang="en-US" dirty="0" err="1"/>
              <a:t>kompleksnost</a:t>
            </a:r>
            <a:r>
              <a:rPr lang="en-US" dirty="0"/>
              <a:t> </a:t>
            </a:r>
            <a:r>
              <a:rPr lang="en-US" dirty="0" err="1"/>
              <a:t>odnosi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uvođenje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programskog</a:t>
            </a:r>
            <a:r>
              <a:rPr lang="en-US" dirty="0"/>
              <a:t> </a:t>
            </a:r>
            <a:r>
              <a:rPr lang="en-US" dirty="0" err="1"/>
              <a:t>jezika</a:t>
            </a:r>
            <a:r>
              <a:rPr lang="en-US" dirty="0"/>
              <a:t> u </a:t>
            </a:r>
            <a:r>
              <a:rPr lang="en-US" dirty="0" err="1"/>
              <a:t>postojeći</a:t>
            </a:r>
            <a:r>
              <a:rPr lang="en-US" dirty="0"/>
              <a:t> </a:t>
            </a:r>
            <a:r>
              <a:rPr lang="en-US" dirty="0" err="1"/>
              <a:t>ekosistem</a:t>
            </a:r>
            <a:r>
              <a:rPr lang="en-US" dirty="0"/>
              <a:t>. To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komunikacijski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postojećeg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novog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(REST, </a:t>
            </a:r>
            <a:r>
              <a:rPr lang="en-US" dirty="0" err="1"/>
              <a:t>gRPC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IPC) </a:t>
            </a:r>
            <a:r>
              <a:rPr lang="en-US" dirty="0" err="1"/>
              <a:t>umjesto</a:t>
            </a:r>
            <a:r>
              <a:rPr lang="en-US" dirty="0"/>
              <a:t> </a:t>
            </a:r>
            <a:r>
              <a:rPr lang="en-US" dirty="0" err="1"/>
              <a:t>direktnog</a:t>
            </a:r>
            <a:r>
              <a:rPr lang="en-US" dirty="0"/>
              <a:t> </a:t>
            </a:r>
            <a:r>
              <a:rPr lang="en-US" dirty="0" err="1"/>
              <a:t>poziva</a:t>
            </a:r>
            <a:r>
              <a:rPr lang="en-US" dirty="0"/>
              <a:t> u </a:t>
            </a:r>
            <a:r>
              <a:rPr lang="en-US" dirty="0" err="1"/>
              <a:t>istom</a:t>
            </a:r>
            <a:r>
              <a:rPr lang="en-US" dirty="0"/>
              <a:t> </a:t>
            </a:r>
            <a:r>
              <a:rPr lang="en-US" dirty="0" err="1"/>
              <a:t>procesu</a:t>
            </a:r>
            <a:r>
              <a:rPr lang="en-US" dirty="0"/>
              <a:t>.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drugi</a:t>
            </a:r>
            <a:r>
              <a:rPr lang="en-US" dirty="0"/>
              <a:t> runtime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drugi</a:t>
            </a:r>
            <a:r>
              <a:rPr lang="en-US" dirty="0"/>
              <a:t> </a:t>
            </a:r>
            <a:r>
              <a:rPr lang="en-US" dirty="0" err="1"/>
              <a:t>lanac</a:t>
            </a:r>
            <a:r>
              <a:rPr lang="en-US" dirty="0"/>
              <a:t> </a:t>
            </a:r>
            <a:r>
              <a:rPr lang="en-US" dirty="0" err="1"/>
              <a:t>zavisnosti</a:t>
            </a:r>
            <a:r>
              <a:rPr lang="en-US" dirty="0"/>
              <a:t> — pip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venv</a:t>
            </a:r>
            <a:r>
              <a:rPr lang="en-US" dirty="0"/>
              <a:t> pored NuGet-a —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odvojen</a:t>
            </a:r>
            <a:r>
              <a:rPr lang="en-US" dirty="0"/>
              <a:t> deployment </a:t>
            </a:r>
            <a:r>
              <a:rPr lang="en-US" dirty="0" err="1"/>
              <a:t>i</a:t>
            </a:r>
            <a:r>
              <a:rPr lang="en-US" dirty="0"/>
              <a:t> CI. Na </a:t>
            </a:r>
            <a:r>
              <a:rPr lang="en-US" dirty="0" err="1"/>
              <a:t>kraju</a:t>
            </a:r>
            <a:r>
              <a:rPr lang="en-US" dirty="0"/>
              <a:t>,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vrijeme</a:t>
            </a:r>
            <a:r>
              <a:rPr lang="en-US" dirty="0"/>
              <a:t> da </a:t>
            </a:r>
            <a:r>
              <a:rPr lang="en-US" dirty="0" err="1"/>
              <a:t>postojeći</a:t>
            </a:r>
            <a:r>
              <a:rPr lang="en-US" dirty="0"/>
              <a:t> </a:t>
            </a:r>
            <a:r>
              <a:rPr lang="en-US" dirty="0" err="1"/>
              <a:t>developeri</a:t>
            </a:r>
            <a:r>
              <a:rPr lang="en-US" dirty="0"/>
              <a:t> </a:t>
            </a:r>
            <a:r>
              <a:rPr lang="en-US" dirty="0" err="1"/>
              <a:t>nauče</a:t>
            </a:r>
            <a:r>
              <a:rPr lang="en-US" dirty="0"/>
              <a:t> Python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zapošljavanje</a:t>
            </a:r>
            <a:r>
              <a:rPr lang="en-US" dirty="0"/>
              <a:t> </a:t>
            </a:r>
            <a:r>
              <a:rPr lang="en-US" dirty="0" err="1"/>
              <a:t>novih</a:t>
            </a:r>
            <a:r>
              <a:rPr lang="en-US" dirty="0"/>
              <a:t>. </a:t>
            </a:r>
            <a:r>
              <a:rPr lang="en-US" dirty="0" err="1"/>
              <a:t>Čitava</a:t>
            </a:r>
            <a:r>
              <a:rPr lang="en-US" dirty="0"/>
              <a:t> ta </a:t>
            </a:r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košta</a:t>
            </a:r>
            <a:r>
              <a:rPr lang="en-US" dirty="0"/>
              <a:t>. </a:t>
            </a:r>
            <a:r>
              <a:rPr lang="en-US" dirty="0" err="1"/>
              <a:t>Ako</a:t>
            </a:r>
            <a:r>
              <a:rPr lang="en-US" dirty="0"/>
              <a:t> se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zadržati</a:t>
            </a:r>
            <a:r>
              <a:rPr lang="en-US" dirty="0"/>
              <a:t> u </a:t>
            </a:r>
            <a:r>
              <a:rPr lang="en-US" dirty="0" err="1"/>
              <a:t>istom</a:t>
            </a:r>
            <a:r>
              <a:rPr lang="en-US" dirty="0"/>
              <a:t> </a:t>
            </a:r>
            <a:r>
              <a:rPr lang="en-US" dirty="0" err="1"/>
              <a:t>ekosistemu</a:t>
            </a:r>
            <a:r>
              <a:rPr lang="en-US" dirty="0"/>
              <a:t>, </a:t>
            </a:r>
            <a:r>
              <a:rPr lang="en-US" dirty="0" err="1"/>
              <a:t>tih</a:t>
            </a:r>
            <a:r>
              <a:rPr lang="en-US" dirty="0"/>
              <a:t> </a:t>
            </a:r>
            <a:r>
              <a:rPr lang="en-US" dirty="0" err="1"/>
              <a:t>troškova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A785-91A4-4858-91F9-18C65D64E1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55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Jednostavnost</a:t>
            </a:r>
            <a:r>
              <a:rPr lang="en-US" dirty="0"/>
              <a:t> </a:t>
            </a:r>
            <a:r>
              <a:rPr lang="en-US" dirty="0" err="1"/>
              <a:t>implementacije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mjereno</a:t>
            </a:r>
            <a:r>
              <a:rPr lang="en-US" dirty="0"/>
              <a:t> </a:t>
            </a:r>
            <a:r>
              <a:rPr lang="en-US" dirty="0" err="1"/>
              <a:t>brojčano</a:t>
            </a:r>
            <a:r>
              <a:rPr lang="en-US" dirty="0"/>
              <a:t>,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kvalitativno</a:t>
            </a:r>
            <a:r>
              <a:rPr lang="en-US" dirty="0"/>
              <a:t>,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razvojno</a:t>
            </a:r>
            <a:r>
              <a:rPr lang="en-US" dirty="0"/>
              <a:t> </a:t>
            </a:r>
            <a:r>
              <a:rPr lang="en-US" dirty="0" err="1"/>
              <a:t>iskustvo</a:t>
            </a:r>
            <a:r>
              <a:rPr lang="en-US" dirty="0"/>
              <a:t>: za </a:t>
            </a:r>
            <a:r>
              <a:rPr lang="en-US" dirty="0" err="1"/>
              <a:t>PyTorch</a:t>
            </a:r>
            <a:r>
              <a:rPr lang="en-US" dirty="0"/>
              <a:t> je </a:t>
            </a:r>
            <a:r>
              <a:rPr lang="en-US" dirty="0" err="1"/>
              <a:t>referentna</a:t>
            </a:r>
            <a:r>
              <a:rPr lang="en-US" dirty="0"/>
              <a:t> </a:t>
            </a:r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postojala</a:t>
            </a:r>
            <a:r>
              <a:rPr lang="en-US" dirty="0"/>
              <a:t> u </a:t>
            </a:r>
            <a:r>
              <a:rPr lang="en-US" dirty="0" err="1"/>
              <a:t>zvaničnoj</a:t>
            </a:r>
            <a:r>
              <a:rPr lang="en-US" dirty="0"/>
              <a:t> </a:t>
            </a:r>
            <a:r>
              <a:rPr lang="en-US" dirty="0" err="1"/>
              <a:t>dokumentaciji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tutorijalima</a:t>
            </a:r>
            <a:r>
              <a:rPr lang="en-US" dirty="0"/>
              <a:t>. Za </a:t>
            </a:r>
            <a:r>
              <a:rPr lang="en-US" dirty="0" err="1"/>
              <a:t>TorchSharp</a:t>
            </a:r>
            <a:r>
              <a:rPr lang="en-US" dirty="0"/>
              <a:t> za [</a:t>
            </a:r>
            <a:r>
              <a:rPr lang="en-US" dirty="0" err="1"/>
              <a:t>konkretno</a:t>
            </a:r>
            <a:r>
              <a:rPr lang="en-US" dirty="0"/>
              <a:t> X]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primjera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u </a:t>
            </a:r>
            <a:r>
              <a:rPr lang="en-US" dirty="0" err="1"/>
              <a:t>zvaničnom</a:t>
            </a:r>
            <a:r>
              <a:rPr lang="en-US" dirty="0"/>
              <a:t> </a:t>
            </a:r>
            <a:r>
              <a:rPr lang="en-US" dirty="0" err="1"/>
              <a:t>repozitoriju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u </a:t>
            </a:r>
            <a:r>
              <a:rPr lang="en-US" dirty="0" err="1"/>
              <a:t>dokumentaciji</a:t>
            </a:r>
            <a:r>
              <a:rPr lang="en-US" dirty="0"/>
              <a:t>, pa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rješenje</a:t>
            </a:r>
            <a:r>
              <a:rPr lang="en-US" dirty="0"/>
              <a:t> </a:t>
            </a:r>
            <a:r>
              <a:rPr lang="en-US" dirty="0" err="1"/>
              <a:t>rekonstruisao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stranom</a:t>
            </a:r>
            <a:r>
              <a:rPr lang="en-US" dirty="0"/>
              <a:t> </a:t>
            </a:r>
            <a:r>
              <a:rPr lang="en-US" dirty="0" err="1"/>
              <a:t>jeziku</a:t>
            </a:r>
            <a:r>
              <a:rPr lang="en-US" dirty="0"/>
              <a:t>. </a:t>
            </a:r>
            <a:r>
              <a:rPr lang="en-US" dirty="0" err="1"/>
              <a:t>Razlika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u </a:t>
            </a:r>
            <a:r>
              <a:rPr lang="en-US" dirty="0" err="1"/>
              <a:t>jeziku</a:t>
            </a:r>
            <a:r>
              <a:rPr lang="en-US" dirty="0"/>
              <a:t>, </a:t>
            </a:r>
            <a:r>
              <a:rPr lang="en-US" dirty="0" err="1"/>
              <a:t>nego</a:t>
            </a:r>
            <a:r>
              <a:rPr lang="en-US" dirty="0"/>
              <a:t> u </a:t>
            </a:r>
            <a:r>
              <a:rPr lang="en-US" dirty="0" err="1"/>
              <a:t>dostupnosti</a:t>
            </a:r>
            <a:r>
              <a:rPr lang="en-US" dirty="0"/>
              <a:t> </a:t>
            </a:r>
            <a:r>
              <a:rPr lang="en-US" dirty="0" err="1"/>
              <a:t>materijala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Zašto</a:t>
            </a:r>
            <a:r>
              <a:rPr lang="en-US" dirty="0"/>
              <a:t> </a:t>
            </a:r>
            <a:r>
              <a:rPr lang="en-US" dirty="0" err="1"/>
              <a:t>rak</a:t>
            </a:r>
            <a:r>
              <a:rPr lang="en-US" dirty="0"/>
              <a:t> </a:t>
            </a:r>
            <a:r>
              <a:rPr lang="en-US" dirty="0" err="1"/>
              <a:t>pluća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Dataset je </a:t>
            </a:r>
            <a:r>
              <a:rPr lang="en-US" dirty="0" err="1"/>
              <a:t>javno</a:t>
            </a:r>
            <a:r>
              <a:rPr lang="en-US" dirty="0"/>
              <a:t> </a:t>
            </a:r>
            <a:r>
              <a:rPr lang="en-US" dirty="0" err="1"/>
              <a:t>dostupan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označen</a:t>
            </a:r>
            <a:r>
              <a:rPr lang="en-US" dirty="0"/>
              <a:t> —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uslov</a:t>
            </a:r>
            <a:r>
              <a:rPr lang="en-US" dirty="0"/>
              <a:t> za </a:t>
            </a:r>
            <a:r>
              <a:rPr lang="en-US" dirty="0" err="1"/>
              <a:t>reproducibilnost</a:t>
            </a:r>
            <a:r>
              <a:rPr lang="en-US" dirty="0"/>
              <a:t>. </a:t>
            </a:r>
            <a:r>
              <a:rPr lang="en-US" dirty="0" err="1"/>
              <a:t>Zadatak</a:t>
            </a:r>
            <a:r>
              <a:rPr lang="en-US" dirty="0"/>
              <a:t> je </a:t>
            </a:r>
            <a:r>
              <a:rPr lang="en-US" dirty="0" err="1"/>
              <a:t>klasifikacija</a:t>
            </a:r>
            <a:r>
              <a:rPr lang="en-US" dirty="0"/>
              <a:t> </a:t>
            </a:r>
            <a:r>
              <a:rPr lang="en-US" dirty="0" err="1"/>
              <a:t>slika</a:t>
            </a:r>
            <a:r>
              <a:rPr lang="en-US" dirty="0"/>
              <a:t> u tri </a:t>
            </a:r>
            <a:r>
              <a:rPr lang="en-US" dirty="0" err="1"/>
              <a:t>klase</a:t>
            </a:r>
            <a:r>
              <a:rPr lang="en-US" dirty="0"/>
              <a:t>, </a:t>
            </a:r>
            <a:r>
              <a:rPr lang="en-US" dirty="0" err="1"/>
              <a:t>dakle</a:t>
            </a:r>
            <a:r>
              <a:rPr lang="en-US" dirty="0"/>
              <a:t> CNN je </a:t>
            </a:r>
            <a:r>
              <a:rPr lang="en-US" dirty="0" err="1"/>
              <a:t>prirodan</a:t>
            </a:r>
            <a:r>
              <a:rPr lang="en-US" dirty="0"/>
              <a:t> </a:t>
            </a:r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dobijaju</a:t>
            </a:r>
            <a:r>
              <a:rPr lang="en-US" dirty="0"/>
              <a:t> se </a:t>
            </a:r>
            <a:r>
              <a:rPr lang="en-US" dirty="0" err="1"/>
              <a:t>bogatije</a:t>
            </a:r>
            <a:r>
              <a:rPr lang="en-US" dirty="0"/>
              <a:t> </a:t>
            </a:r>
            <a:r>
              <a:rPr lang="en-US" dirty="0" err="1"/>
              <a:t>metrike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binarnog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. </a:t>
            </a:r>
            <a:r>
              <a:rPr lang="en-US" dirty="0" err="1"/>
              <a:t>Veličina</a:t>
            </a:r>
            <a:r>
              <a:rPr lang="en-US" dirty="0"/>
              <a:t> je </a:t>
            </a:r>
            <a:r>
              <a:rPr lang="en-US" dirty="0" err="1"/>
              <a:t>takva</a:t>
            </a:r>
            <a:r>
              <a:rPr lang="en-US" dirty="0"/>
              <a:t> da se </a:t>
            </a:r>
            <a:r>
              <a:rPr lang="en-US" dirty="0" err="1"/>
              <a:t>trening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ponoviti</a:t>
            </a:r>
            <a:r>
              <a:rPr lang="en-US" dirty="0"/>
              <a:t> </a:t>
            </a:r>
            <a:r>
              <a:rPr lang="en-US" dirty="0" err="1"/>
              <a:t>šest</a:t>
            </a:r>
            <a:r>
              <a:rPr lang="en-US" dirty="0"/>
              <a:t> puta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dostupnom</a:t>
            </a:r>
            <a:r>
              <a:rPr lang="en-US" dirty="0"/>
              <a:t> </a:t>
            </a:r>
            <a:r>
              <a:rPr lang="en-US" dirty="0" err="1"/>
              <a:t>hardveru</a:t>
            </a:r>
            <a:r>
              <a:rPr lang="en-US" dirty="0"/>
              <a:t>.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objavljenih</a:t>
            </a:r>
            <a:r>
              <a:rPr lang="en-US" dirty="0"/>
              <a:t> </a:t>
            </a:r>
            <a:r>
              <a:rPr lang="en-US" dirty="0" err="1"/>
              <a:t>implementacija</a:t>
            </a:r>
            <a:r>
              <a:rPr lang="en-US" dirty="0"/>
              <a:t>, pa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mogao</a:t>
            </a:r>
            <a:r>
              <a:rPr lang="en-US" dirty="0"/>
              <a:t> </a:t>
            </a:r>
            <a:r>
              <a:rPr lang="en-US" dirty="0" err="1"/>
              <a:t>provjeriti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moji</a:t>
            </a:r>
            <a:r>
              <a:rPr lang="en-US" dirty="0"/>
              <a:t> </a:t>
            </a:r>
            <a:r>
              <a:rPr lang="en-US" dirty="0" err="1"/>
              <a:t>rezultati</a:t>
            </a:r>
            <a:r>
              <a:rPr lang="en-US" dirty="0"/>
              <a:t> u </a:t>
            </a:r>
            <a:r>
              <a:rPr lang="en-US" dirty="0" err="1"/>
              <a:t>očekivanom</a:t>
            </a:r>
            <a:r>
              <a:rPr lang="en-US" dirty="0"/>
              <a:t> </a:t>
            </a:r>
            <a:r>
              <a:rPr lang="en-US" dirty="0" err="1"/>
              <a:t>rasponu</a:t>
            </a:r>
            <a:r>
              <a:rPr lang="en-US" dirty="0"/>
              <a:t> —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eventualne</a:t>
            </a:r>
            <a:r>
              <a:rPr lang="en-US" dirty="0"/>
              <a:t> </a:t>
            </a:r>
            <a:r>
              <a:rPr lang="en-US" dirty="0" err="1"/>
              <a:t>razlike</a:t>
            </a:r>
            <a:r>
              <a:rPr lang="en-US" dirty="0"/>
              <a:t> </a:t>
            </a:r>
            <a:r>
              <a:rPr lang="en-US" dirty="0" err="1"/>
              <a:t>dolaze</a:t>
            </a:r>
            <a:r>
              <a:rPr lang="en-US" dirty="0"/>
              <a:t> od </a:t>
            </a:r>
            <a:r>
              <a:rPr lang="en-US" dirty="0" err="1"/>
              <a:t>okruženja</a:t>
            </a:r>
            <a:r>
              <a:rPr lang="en-US" dirty="0"/>
              <a:t>, a ne od </a:t>
            </a:r>
            <a:r>
              <a:rPr lang="en-US" dirty="0" err="1"/>
              <a:t>pogrešno</a:t>
            </a:r>
            <a:r>
              <a:rPr lang="en-US" dirty="0"/>
              <a:t> </a:t>
            </a:r>
            <a:r>
              <a:rPr lang="en-US" dirty="0" err="1"/>
              <a:t>postavljenog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Transfer learning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A785-91A4-4858-91F9-18C65D64E1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7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err="1"/>
              <a:t>Zašto</a:t>
            </a:r>
            <a:r>
              <a:rPr lang="en-US" b="0" dirty="0"/>
              <a:t> </a:t>
            </a:r>
            <a:r>
              <a:rPr lang="en-US" b="0" dirty="0" err="1"/>
              <a:t>baš</a:t>
            </a:r>
            <a:r>
              <a:rPr lang="en-US" b="0" dirty="0"/>
              <a:t> </a:t>
            </a:r>
            <a:r>
              <a:rPr lang="en-US" b="0" dirty="0" err="1"/>
              <a:t>PyTorch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TorchSharp</a:t>
            </a:r>
            <a:r>
              <a:rPr lang="en-US" b="0" dirty="0"/>
              <a:t>?</a:t>
            </a:r>
            <a:br>
              <a:rPr lang="en-US" dirty="0"/>
            </a:br>
            <a:r>
              <a:rPr lang="en-US" dirty="0" err="1"/>
              <a:t>Implementacija</a:t>
            </a:r>
            <a:r>
              <a:rPr lang="en-US" dirty="0"/>
              <a:t> je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moguća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drugim</a:t>
            </a:r>
            <a:r>
              <a:rPr lang="en-US" dirty="0"/>
              <a:t> </a:t>
            </a:r>
            <a:r>
              <a:rPr lang="en-US" dirty="0" err="1"/>
              <a:t>bibliotekama</a:t>
            </a:r>
            <a:r>
              <a:rPr lang="en-US" dirty="0"/>
              <a:t>, </a:t>
            </a:r>
            <a:r>
              <a:rPr lang="en-US" dirty="0" err="1"/>
              <a:t>poput</a:t>
            </a:r>
            <a:r>
              <a:rPr lang="en-US" dirty="0"/>
              <a:t> TensorFlow.NET,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TorchSharp</a:t>
            </a:r>
            <a:r>
              <a:rPr lang="en-US" dirty="0"/>
              <a:t> se </a:t>
            </a:r>
            <a:r>
              <a:rPr lang="en-US" dirty="0" err="1"/>
              <a:t>pokazao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najbolja</a:t>
            </a:r>
            <a:r>
              <a:rPr lang="en-US" dirty="0"/>
              <a:t> </a:t>
            </a:r>
            <a:r>
              <a:rPr lang="en-US" dirty="0" err="1"/>
              <a:t>opcija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direktnu</a:t>
            </a:r>
            <a:r>
              <a:rPr lang="en-US" dirty="0"/>
              <a:t> </a:t>
            </a:r>
            <a:r>
              <a:rPr lang="en-US" dirty="0" err="1"/>
              <a:t>implementaciju</a:t>
            </a:r>
            <a:r>
              <a:rPr lang="en-US" dirty="0"/>
              <a:t> </a:t>
            </a:r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slojeva</a:t>
            </a:r>
            <a:r>
              <a:rPr lang="en-US" dirty="0"/>
              <a:t>, </a:t>
            </a:r>
            <a:r>
              <a:rPr lang="en-US" dirty="0" err="1"/>
              <a:t>vrlo</a:t>
            </a:r>
            <a:r>
              <a:rPr lang="en-US" dirty="0"/>
              <a:t> </a:t>
            </a:r>
            <a:r>
              <a:rPr lang="en-US" dirty="0" err="1"/>
              <a:t>slično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r>
              <a:rPr lang="en-US" dirty="0"/>
              <a:t>Da li </a:t>
            </a:r>
            <a:r>
              <a:rPr lang="en-US" dirty="0" err="1"/>
              <a:t>postoje</a:t>
            </a:r>
            <a:r>
              <a:rPr lang="en-US" dirty="0"/>
              <a:t> wrapper za </a:t>
            </a:r>
            <a:r>
              <a:rPr lang="en-US" dirty="0" err="1"/>
              <a:t>LibTorch</a:t>
            </a:r>
            <a:r>
              <a:rPr lang="en-US" dirty="0"/>
              <a:t> u </a:t>
            </a:r>
            <a:r>
              <a:rPr lang="en-US" dirty="0" err="1"/>
              <a:t>drugim</a:t>
            </a:r>
            <a:r>
              <a:rPr lang="en-US" dirty="0"/>
              <a:t> </a:t>
            </a:r>
            <a:r>
              <a:rPr lang="en-US" dirty="0" err="1"/>
              <a:t>jezicima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pl-PL" b="0" dirty="0"/>
              <a:t>Postoje li omotači za LibTorch u drugim jezicima?</a:t>
            </a:r>
            <a:br>
              <a:rPr lang="en-US" dirty="0"/>
            </a:br>
            <a:r>
              <a:rPr lang="en-US" dirty="0"/>
              <a:t>Da, </a:t>
            </a:r>
            <a:r>
              <a:rPr lang="en-US" dirty="0" err="1"/>
              <a:t>postoje</a:t>
            </a:r>
            <a:r>
              <a:rPr lang="en-US" dirty="0"/>
              <a:t> — u </a:t>
            </a:r>
            <a:r>
              <a:rPr lang="en-US" dirty="0" err="1"/>
              <a:t>Javi</a:t>
            </a:r>
            <a:r>
              <a:rPr lang="en-US" dirty="0"/>
              <a:t>, </a:t>
            </a:r>
            <a:r>
              <a:rPr lang="en-US" dirty="0" err="1"/>
              <a:t>Rustu</a:t>
            </a:r>
            <a:r>
              <a:rPr lang="en-US" dirty="0"/>
              <a:t> (tch-</a:t>
            </a:r>
            <a:r>
              <a:rPr lang="en-US" dirty="0" err="1"/>
              <a:t>rs</a:t>
            </a:r>
            <a:r>
              <a:rPr lang="en-US" dirty="0"/>
              <a:t>), </a:t>
            </a:r>
            <a:r>
              <a:rPr lang="en-US" dirty="0" err="1"/>
              <a:t>JavaScriptu</a:t>
            </a:r>
            <a:r>
              <a:rPr lang="en-US" dirty="0"/>
              <a:t>. </a:t>
            </a:r>
            <a:r>
              <a:rPr lang="en-US" dirty="0" err="1"/>
              <a:t>Kako</a:t>
            </a:r>
            <a:r>
              <a:rPr lang="en-US" dirty="0"/>
              <a:t> je </a:t>
            </a:r>
            <a:r>
              <a:rPr lang="en-US" dirty="0" err="1"/>
              <a:t>pozadinska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ista</a:t>
            </a:r>
            <a:r>
              <a:rPr lang="en-US" dirty="0"/>
              <a:t>, </a:t>
            </a:r>
            <a:r>
              <a:rPr lang="en-US" dirty="0" err="1"/>
              <a:t>omotač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napisan</a:t>
            </a:r>
            <a:r>
              <a:rPr lang="en-US" dirty="0"/>
              <a:t> u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kojem</a:t>
            </a:r>
            <a:r>
              <a:rPr lang="en-US" dirty="0"/>
              <a:t> </a:t>
            </a:r>
            <a:r>
              <a:rPr lang="en-US" dirty="0" err="1"/>
              <a:t>programskom</a:t>
            </a:r>
            <a:r>
              <a:rPr lang="en-US" dirty="0"/>
              <a:t> </a:t>
            </a:r>
            <a:r>
              <a:rPr lang="en-US" dirty="0" err="1"/>
              <a:t>jeziku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A785-91A4-4858-91F9-18C65D64E1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7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 err="1"/>
              <a:t>Kako</a:t>
            </a:r>
            <a:r>
              <a:rPr lang="en-US" b="1" dirty="0"/>
              <a:t> je </a:t>
            </a:r>
            <a:r>
              <a:rPr lang="en-US" b="1" dirty="0" err="1"/>
              <a:t>izdvojeno</a:t>
            </a:r>
            <a:r>
              <a:rPr lang="en-US" b="1" dirty="0"/>
              <a:t> </a:t>
            </a:r>
            <a:r>
              <a:rPr lang="en-US" b="1" dirty="0" err="1"/>
              <a:t>tih</a:t>
            </a:r>
            <a:r>
              <a:rPr lang="en-US" b="1" dirty="0"/>
              <a:t> 1097  </a:t>
            </a:r>
            <a:r>
              <a:rPr lang="en-US" b="1" dirty="0" err="1"/>
              <a:t>slika</a:t>
            </a:r>
            <a:r>
              <a:rPr lang="en-US" b="1" dirty="0"/>
              <a:t>?</a:t>
            </a:r>
            <a:br>
              <a:rPr lang="en-US" dirty="0"/>
            </a:b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slučaj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pacijenta</a:t>
            </a:r>
            <a:r>
              <a:rPr lang="en-US" dirty="0"/>
              <a:t>, 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snimak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slojeva</a:t>
            </a:r>
            <a:r>
              <a:rPr lang="en-US" dirty="0"/>
              <a:t> </a:t>
            </a:r>
            <a:r>
              <a:rPr lang="en-US" dirty="0" err="1"/>
              <a:t>grudnog</a:t>
            </a:r>
            <a:r>
              <a:rPr lang="en-US" dirty="0"/>
              <a:t> </a:t>
            </a:r>
            <a:r>
              <a:rPr lang="en-US" dirty="0" err="1"/>
              <a:t>koša</a:t>
            </a:r>
            <a:r>
              <a:rPr lang="en-US" dirty="0"/>
              <a:t>. </a:t>
            </a:r>
            <a:r>
              <a:rPr lang="en-US" dirty="0" err="1"/>
              <a:t>Većina</a:t>
            </a:r>
            <a:r>
              <a:rPr lang="en-US" dirty="0"/>
              <a:t> </a:t>
            </a:r>
            <a:r>
              <a:rPr lang="en-US" dirty="0" err="1"/>
              <a:t>slojeva</a:t>
            </a:r>
            <a:r>
              <a:rPr lang="en-US" dirty="0"/>
              <a:t> ne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relevantnu</a:t>
            </a:r>
            <a:r>
              <a:rPr lang="en-US" dirty="0"/>
              <a:t> </a:t>
            </a:r>
            <a:r>
              <a:rPr lang="en-US" dirty="0" err="1"/>
              <a:t>informaciju</a:t>
            </a:r>
            <a:r>
              <a:rPr lang="en-US" dirty="0"/>
              <a:t>, pa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</a:t>
            </a:r>
            <a:r>
              <a:rPr lang="en-US" dirty="0" err="1"/>
              <a:t>izdvojili</a:t>
            </a:r>
            <a:r>
              <a:rPr lang="en-US" dirty="0"/>
              <a:t> one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kojima</a:t>
            </a:r>
            <a:r>
              <a:rPr lang="en-US" dirty="0"/>
              <a:t> je </a:t>
            </a:r>
            <a:r>
              <a:rPr lang="en-US" dirty="0" err="1"/>
              <a:t>nalaz</a:t>
            </a:r>
            <a:r>
              <a:rPr lang="en-US" dirty="0"/>
              <a:t> </a:t>
            </a:r>
            <a:r>
              <a:rPr lang="en-US" dirty="0" err="1"/>
              <a:t>vidljiv</a:t>
            </a:r>
            <a:r>
              <a:rPr lang="en-US" dirty="0"/>
              <a:t>. </a:t>
            </a:r>
            <a:r>
              <a:rPr lang="en-US" dirty="0" err="1"/>
              <a:t>Selekciju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, </a:t>
            </a:r>
            <a:r>
              <a:rPr lang="en-US" dirty="0" err="1"/>
              <a:t>dakle</a:t>
            </a:r>
            <a:r>
              <a:rPr lang="en-US" dirty="0"/>
              <a:t>, </a:t>
            </a:r>
            <a:r>
              <a:rPr lang="en-US" dirty="0" err="1"/>
              <a:t>izvršili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, ne ja.</a:t>
            </a:r>
          </a:p>
          <a:p>
            <a:pPr rtl="0"/>
            <a:endParaRPr lang="en-US" b="1" dirty="0"/>
          </a:p>
          <a:p>
            <a:pPr rtl="0"/>
            <a:r>
              <a:rPr lang="en-US" b="1" dirty="0" err="1"/>
              <a:t>Zašto</a:t>
            </a:r>
            <a:r>
              <a:rPr lang="en-US" b="1" dirty="0"/>
              <a:t> </a:t>
            </a:r>
            <a:r>
              <a:rPr lang="en-US" b="1" dirty="0" err="1"/>
              <a:t>baš</a:t>
            </a:r>
            <a:r>
              <a:rPr lang="en-US" b="1" dirty="0"/>
              <a:t> </a:t>
            </a:r>
            <a:r>
              <a:rPr lang="en-US" b="1" dirty="0" err="1"/>
              <a:t>ovaj</a:t>
            </a:r>
            <a:r>
              <a:rPr lang="en-US" b="1" dirty="0"/>
              <a:t> </a:t>
            </a:r>
            <a:r>
              <a:rPr lang="en-US" b="1" dirty="0" err="1"/>
              <a:t>skup</a:t>
            </a:r>
            <a:r>
              <a:rPr lang="en-US" b="1" dirty="0"/>
              <a:t> </a:t>
            </a:r>
            <a:r>
              <a:rPr lang="en-US" b="1" dirty="0" err="1"/>
              <a:t>podataka</a:t>
            </a:r>
            <a:r>
              <a:rPr lang="en-US" b="1" dirty="0"/>
              <a:t>?</a:t>
            </a:r>
            <a:br>
              <a:rPr lang="en-US" dirty="0"/>
            </a:br>
            <a:r>
              <a:rPr lang="en-US" dirty="0"/>
              <a:t>Kaggle </a:t>
            </a:r>
            <a:r>
              <a:rPr lang="en-US" dirty="0" err="1"/>
              <a:t>nudi</a:t>
            </a:r>
            <a:r>
              <a:rPr lang="en-US" dirty="0"/>
              <a:t>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skupova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 </a:t>
            </a:r>
            <a:r>
              <a:rPr lang="en-US" dirty="0" err="1"/>
              <a:t>Ovaj</a:t>
            </a:r>
            <a:r>
              <a:rPr lang="en-US" dirty="0"/>
              <a:t> je </a:t>
            </a:r>
            <a:r>
              <a:rPr lang="en-US" dirty="0" err="1"/>
              <a:t>odabran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mnogo</a:t>
            </a:r>
            <a:r>
              <a:rPr lang="en-US" dirty="0"/>
              <a:t> </a:t>
            </a:r>
            <a:r>
              <a:rPr lang="en-US" dirty="0" err="1"/>
              <a:t>objavljenih</a:t>
            </a:r>
            <a:r>
              <a:rPr lang="en-US" dirty="0"/>
              <a:t> </a:t>
            </a:r>
            <a:r>
              <a:rPr lang="en-US" dirty="0" err="1"/>
              <a:t>implementacija</a:t>
            </a:r>
            <a:r>
              <a:rPr lang="en-US" dirty="0"/>
              <a:t> CNN </a:t>
            </a:r>
            <a:r>
              <a:rPr lang="en-US" dirty="0" err="1"/>
              <a:t>mreža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njim</a:t>
            </a:r>
            <a:r>
              <a:rPr lang="en-US" dirty="0"/>
              <a:t>, pa je </a:t>
            </a:r>
            <a:r>
              <a:rPr lang="en-US" dirty="0" err="1"/>
              <a:t>mogao</a:t>
            </a:r>
            <a:r>
              <a:rPr lang="en-US" dirty="0"/>
              <a:t> </a:t>
            </a:r>
            <a:r>
              <a:rPr lang="en-US" dirty="0" err="1"/>
              <a:t>poslužiti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provjera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moji</a:t>
            </a:r>
            <a:r>
              <a:rPr lang="en-US" dirty="0"/>
              <a:t> </a:t>
            </a:r>
            <a:r>
              <a:rPr lang="en-US" dirty="0" err="1"/>
              <a:t>rezultati</a:t>
            </a:r>
            <a:r>
              <a:rPr lang="en-US" dirty="0"/>
              <a:t> u </a:t>
            </a:r>
            <a:r>
              <a:rPr lang="en-US" dirty="0" err="1"/>
              <a:t>očekivanom</a:t>
            </a:r>
            <a:r>
              <a:rPr lang="en-US" dirty="0"/>
              <a:t> </a:t>
            </a:r>
            <a:r>
              <a:rPr lang="en-US" dirty="0" err="1"/>
              <a:t>rasponu</a:t>
            </a:r>
            <a:r>
              <a:rPr lang="en-US" dirty="0"/>
              <a:t>.</a:t>
            </a:r>
          </a:p>
          <a:p>
            <a:pPr rtl="0"/>
            <a:endParaRPr lang="en-US" dirty="0"/>
          </a:p>
          <a:p>
            <a:pPr rtl="0"/>
            <a:r>
              <a:rPr lang="en-US" b="1" dirty="0"/>
              <a:t>Koliko </a:t>
            </a:r>
            <a:r>
              <a:rPr lang="en-US" b="1" dirty="0" err="1"/>
              <a:t>ima</a:t>
            </a:r>
            <a:r>
              <a:rPr lang="en-US" b="1" dirty="0"/>
              <a:t> </a:t>
            </a:r>
            <a:r>
              <a:rPr lang="en-US" b="1" dirty="0" err="1"/>
              <a:t>slika</a:t>
            </a:r>
            <a:r>
              <a:rPr lang="en-US" b="1" dirty="0"/>
              <a:t> po </a:t>
            </a:r>
            <a:r>
              <a:rPr lang="en-US" b="1" dirty="0" err="1"/>
              <a:t>klasi</a:t>
            </a:r>
            <a:r>
              <a:rPr lang="en-US" b="1" dirty="0"/>
              <a:t>?</a:t>
            </a:r>
          </a:p>
          <a:p>
            <a:pPr rtl="0"/>
            <a:r>
              <a:rPr lang="en-US" dirty="0" err="1"/>
              <a:t>Imamo</a:t>
            </a:r>
            <a:r>
              <a:rPr lang="en-US" dirty="0"/>
              <a:t>:</a:t>
            </a:r>
          </a:p>
          <a:p>
            <a:pPr rtl="0"/>
            <a:r>
              <a:rPr lang="en-US" dirty="0" err="1"/>
              <a:t>Maligno</a:t>
            </a:r>
            <a:r>
              <a:rPr lang="en-US" dirty="0"/>
              <a:t>: 561 </a:t>
            </a:r>
            <a:r>
              <a:rPr lang="en-US" dirty="0" err="1"/>
              <a:t>slika</a:t>
            </a:r>
            <a:endParaRPr lang="en-US" dirty="0"/>
          </a:p>
          <a:p>
            <a:pPr rtl="0"/>
            <a:r>
              <a:rPr lang="en-US" dirty="0" err="1"/>
              <a:t>Benigno</a:t>
            </a:r>
            <a:r>
              <a:rPr lang="en-US" dirty="0"/>
              <a:t>: 120 </a:t>
            </a:r>
            <a:r>
              <a:rPr lang="en-US" dirty="0" err="1"/>
              <a:t>slika</a:t>
            </a:r>
            <a:endParaRPr lang="en-US" dirty="0"/>
          </a:p>
          <a:p>
            <a:pPr rtl="0"/>
            <a:r>
              <a:rPr lang="en-US" dirty="0" err="1"/>
              <a:t>Normalno</a:t>
            </a:r>
            <a:r>
              <a:rPr lang="en-US" dirty="0"/>
              <a:t>: 416 </a:t>
            </a:r>
            <a:r>
              <a:rPr lang="en-US" dirty="0" err="1"/>
              <a:t>slika</a:t>
            </a:r>
            <a:endParaRPr lang="en-US" dirty="0"/>
          </a:p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A785-91A4-4858-91F9-18C65D64E1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18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čega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skalirane</a:t>
            </a:r>
            <a:r>
              <a:rPr lang="en-US" dirty="0"/>
              <a:t> </a:t>
            </a:r>
            <a:r>
              <a:rPr lang="en-US" dirty="0" err="1"/>
              <a:t>dimenzije</a:t>
            </a:r>
            <a:r>
              <a:rPr lang="en-US" dirty="0"/>
              <a:t> </a:t>
            </a:r>
            <a:r>
              <a:rPr lang="en-US" dirty="0" err="1"/>
              <a:t>baš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256x256?</a:t>
            </a:r>
          </a:p>
          <a:p>
            <a:r>
              <a:rPr lang="en-US" dirty="0" err="1"/>
              <a:t>Skaliranje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512x512 </a:t>
            </a:r>
            <a:r>
              <a:rPr lang="en-US" dirty="0" err="1"/>
              <a:t>na</a:t>
            </a:r>
            <a:r>
              <a:rPr lang="en-US" dirty="0"/>
              <a:t> 256x256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razloga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ciljeva</a:t>
            </a:r>
            <a:r>
              <a:rPr lang="en-US" dirty="0"/>
              <a:t>. </a:t>
            </a:r>
            <a:r>
              <a:rPr lang="en-US" dirty="0" err="1"/>
              <a:t>Prvi</a:t>
            </a:r>
            <a:r>
              <a:rPr lang="en-US" dirty="0"/>
              <a:t> </a:t>
            </a:r>
            <a:r>
              <a:rPr lang="en-US" dirty="0" err="1"/>
              <a:t>razlog</a:t>
            </a:r>
            <a:r>
              <a:rPr lang="en-US" dirty="0"/>
              <a:t> je </a:t>
            </a:r>
            <a:r>
              <a:rPr lang="en-US" dirty="0" err="1"/>
              <a:t>smanjujemo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parametera</a:t>
            </a:r>
            <a:r>
              <a:rPr lang="en-US" dirty="0"/>
              <a:t> same </a:t>
            </a:r>
            <a:r>
              <a:rPr lang="en-US" dirty="0" err="1"/>
              <a:t>mreže</a:t>
            </a:r>
            <a:r>
              <a:rPr lang="en-US" dirty="0"/>
              <a:t> </a:t>
            </a:r>
            <a:r>
              <a:rPr lang="en-US" dirty="0" err="1"/>
              <a:t>drastično</a:t>
            </a:r>
            <a:r>
              <a:rPr lang="en-US" dirty="0"/>
              <a:t>. </a:t>
            </a:r>
            <a:r>
              <a:rPr lang="en-US" dirty="0" err="1"/>
              <a:t>Samim</a:t>
            </a:r>
            <a:r>
              <a:rPr lang="en-US" dirty="0"/>
              <a:t> time </a:t>
            </a:r>
            <a:r>
              <a:rPr lang="en-US" dirty="0" err="1"/>
              <a:t>ubrzavamo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Također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osiguravamo</a:t>
            </a:r>
            <a:r>
              <a:rPr lang="en-US" dirty="0"/>
              <a:t> da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uniformni</a:t>
            </a:r>
            <a:r>
              <a:rPr lang="en-US" dirty="0"/>
              <a:t> </a:t>
            </a:r>
            <a:r>
              <a:rPr lang="en-US" dirty="0" err="1"/>
              <a:t>odnosno</a:t>
            </a:r>
            <a:r>
              <a:rPr lang="en-US" dirty="0"/>
              <a:t> da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istih</a:t>
            </a:r>
            <a:r>
              <a:rPr lang="en-US" dirty="0"/>
              <a:t> </a:t>
            </a:r>
            <a:r>
              <a:rPr lang="en-US" dirty="0" err="1"/>
              <a:t>dimenzija</a:t>
            </a:r>
            <a:r>
              <a:rPr lang="en-US" dirty="0"/>
              <a:t>. 256 je </a:t>
            </a:r>
            <a:r>
              <a:rPr lang="en-US" dirty="0" err="1"/>
              <a:t>jednostavno</a:t>
            </a:r>
            <a:r>
              <a:rPr lang="en-US" dirty="0"/>
              <a:t> </a:t>
            </a:r>
            <a:r>
              <a:rPr lang="en-US" dirty="0" err="1"/>
              <a:t>standardna</a:t>
            </a:r>
            <a:r>
              <a:rPr lang="en-US" dirty="0"/>
              <a:t> </a:t>
            </a:r>
            <a:r>
              <a:rPr lang="en-US" dirty="0" err="1"/>
              <a:t>dimenzija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za </a:t>
            </a:r>
            <a:r>
              <a:rPr lang="en-US" dirty="0" err="1"/>
              <a:t>većinu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slike</a:t>
            </a:r>
            <a:r>
              <a:rPr lang="en-US" dirty="0"/>
              <a:t> ne </a:t>
            </a:r>
            <a:r>
              <a:rPr lang="en-US" dirty="0" err="1"/>
              <a:t>izgubi</a:t>
            </a:r>
            <a:r>
              <a:rPr lang="en-US" dirty="0"/>
              <a:t> </a:t>
            </a:r>
            <a:r>
              <a:rPr lang="en-US" dirty="0" err="1"/>
              <a:t>glave</a:t>
            </a:r>
            <a:r>
              <a:rPr lang="en-US" dirty="0"/>
              <a:t> </a:t>
            </a:r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uštedimo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parametrima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kovertujemo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 u </a:t>
            </a:r>
            <a:r>
              <a:rPr lang="en-US" dirty="0" err="1"/>
              <a:t>crno</a:t>
            </a:r>
            <a:r>
              <a:rPr lang="en-US" dirty="0"/>
              <a:t> </a:t>
            </a:r>
            <a:r>
              <a:rPr lang="en-US" dirty="0" err="1"/>
              <a:t>bjelo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zar</a:t>
            </a:r>
            <a:r>
              <a:rPr lang="en-US" dirty="0"/>
              <a:t> </a:t>
            </a:r>
            <a:r>
              <a:rPr lang="en-US" dirty="0" err="1"/>
              <a:t>nećemo</a:t>
            </a:r>
            <a:r>
              <a:rPr lang="en-US" dirty="0"/>
              <a:t> time </a:t>
            </a:r>
            <a:r>
              <a:rPr lang="en-US" dirty="0" err="1"/>
              <a:t>izgubiti</a:t>
            </a:r>
            <a:r>
              <a:rPr lang="en-US" dirty="0"/>
              <a:t> </a:t>
            </a:r>
            <a:r>
              <a:rPr lang="en-US" dirty="0" err="1"/>
              <a:t>detalje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Dataset koji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dobili</a:t>
            </a:r>
            <a:r>
              <a:rPr lang="en-US" dirty="0"/>
              <a:t> je u tri </a:t>
            </a:r>
            <a:r>
              <a:rPr lang="en-US" dirty="0" err="1"/>
              <a:t>kanala</a:t>
            </a:r>
            <a:r>
              <a:rPr lang="en-US" dirty="0"/>
              <a:t>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piksel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tri </a:t>
            </a:r>
            <a:r>
              <a:rPr lang="en-US" dirty="0" err="1"/>
              <a:t>vrijednost</a:t>
            </a:r>
            <a:r>
              <a:rPr lang="en-US" dirty="0"/>
              <a:t> za </a:t>
            </a:r>
            <a:r>
              <a:rPr lang="en-US" dirty="0" err="1"/>
              <a:t>crvenu</a:t>
            </a:r>
            <a:r>
              <a:rPr lang="en-US" dirty="0"/>
              <a:t>, </a:t>
            </a:r>
            <a:r>
              <a:rPr lang="en-US" dirty="0" err="1"/>
              <a:t>zelenu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plavu</a:t>
            </a:r>
            <a:r>
              <a:rPr lang="en-US" dirty="0"/>
              <a:t>. Za </a:t>
            </a: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specifičan</a:t>
            </a:r>
            <a:r>
              <a:rPr lang="en-US" dirty="0"/>
              <a:t> problem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boja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toliko</a:t>
            </a:r>
            <a:r>
              <a:rPr lang="en-US" dirty="0"/>
              <a:t> </a:t>
            </a:r>
            <a:r>
              <a:rPr lang="en-US" dirty="0" err="1"/>
              <a:t>bitna</a:t>
            </a:r>
            <a:r>
              <a:rPr lang="en-US" dirty="0"/>
              <a:t>. CT </a:t>
            </a:r>
            <a:r>
              <a:rPr lang="en-US" dirty="0" err="1"/>
              <a:t>snimici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blizu</a:t>
            </a:r>
            <a:r>
              <a:rPr lang="en-US" dirty="0"/>
              <a:t> </a:t>
            </a:r>
            <a:r>
              <a:rPr lang="en-US" dirty="0" err="1"/>
              <a:t>crno</a:t>
            </a:r>
            <a:r>
              <a:rPr lang="en-US" dirty="0"/>
              <a:t> </a:t>
            </a:r>
            <a:r>
              <a:rPr lang="en-US" dirty="0" err="1"/>
              <a:t>bijeli</a:t>
            </a:r>
            <a:r>
              <a:rPr lang="en-US" dirty="0"/>
              <a:t>,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karcinom</a:t>
            </a:r>
            <a:r>
              <a:rPr lang="en-US" dirty="0"/>
              <a:t> </a:t>
            </a:r>
            <a:r>
              <a:rPr lang="en-US" dirty="0" err="1"/>
              <a:t>karakteriše</a:t>
            </a:r>
            <a:r>
              <a:rPr lang="en-US" dirty="0"/>
              <a:t> </a:t>
            </a:r>
            <a:r>
              <a:rPr lang="en-US" dirty="0" err="1"/>
              <a:t>njegov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, </a:t>
            </a:r>
            <a:r>
              <a:rPr lang="en-US" dirty="0" err="1"/>
              <a:t>tekstura</a:t>
            </a:r>
            <a:r>
              <a:rPr lang="en-US" dirty="0"/>
              <a:t> a ne </a:t>
            </a:r>
            <a:r>
              <a:rPr lang="en-US" dirty="0" err="1"/>
              <a:t>boja</a:t>
            </a:r>
            <a:r>
              <a:rPr lang="en-US" dirty="0"/>
              <a:t>.</a:t>
            </a:r>
          </a:p>
          <a:p>
            <a:r>
              <a:rPr lang="en-US" dirty="0" err="1"/>
              <a:t>Konvertovanjem</a:t>
            </a:r>
            <a:r>
              <a:rPr lang="en-US" dirty="0"/>
              <a:t> u </a:t>
            </a:r>
            <a:r>
              <a:rPr lang="en-US" dirty="0" err="1"/>
              <a:t>crno</a:t>
            </a:r>
            <a:r>
              <a:rPr lang="en-US" dirty="0"/>
              <a:t> </a:t>
            </a:r>
            <a:r>
              <a:rPr lang="en-US" dirty="0" err="1"/>
              <a:t>bjelo</a:t>
            </a:r>
            <a:r>
              <a:rPr lang="en-US" dirty="0"/>
              <a:t> </a:t>
            </a:r>
            <a:r>
              <a:rPr lang="en-US" dirty="0" err="1"/>
              <a:t>znatno</a:t>
            </a:r>
            <a:r>
              <a:rPr lang="en-US" dirty="0"/>
              <a:t> </a:t>
            </a:r>
            <a:r>
              <a:rPr lang="en-US" dirty="0" err="1"/>
              <a:t>smanjujemo</a:t>
            </a:r>
            <a:r>
              <a:rPr lang="en-US" dirty="0"/>
              <a:t> </a:t>
            </a:r>
            <a:r>
              <a:rPr lang="en-US" dirty="0" err="1"/>
              <a:t>veličinu</a:t>
            </a:r>
            <a:r>
              <a:rPr lang="en-US" dirty="0"/>
              <a:t> </a:t>
            </a:r>
            <a:r>
              <a:rPr lang="en-US" dirty="0" err="1"/>
              <a:t>slika</a:t>
            </a:r>
            <a:r>
              <a:rPr lang="en-US" dirty="0"/>
              <a:t> </a:t>
            </a:r>
            <a:r>
              <a:rPr lang="en-US" dirty="0" err="1"/>
              <a:t>čime</a:t>
            </a:r>
            <a:r>
              <a:rPr lang="en-US" dirty="0"/>
              <a:t> </a:t>
            </a:r>
            <a:r>
              <a:rPr lang="en-US" dirty="0" err="1"/>
              <a:t>ponovo</a:t>
            </a:r>
            <a:r>
              <a:rPr lang="en-US" dirty="0"/>
              <a:t> </a:t>
            </a:r>
            <a:r>
              <a:rPr lang="en-US" dirty="0" err="1"/>
              <a:t>štedimo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resursima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ubrzavamo</a:t>
            </a:r>
            <a:r>
              <a:rPr lang="en-US" dirty="0"/>
              <a:t> </a:t>
            </a:r>
            <a:r>
              <a:rPr lang="en-US" dirty="0" err="1"/>
              <a:t>treniranje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normalizacija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 err="1"/>
              <a:t>Normalizacija</a:t>
            </a:r>
            <a:r>
              <a:rPr lang="en-US" dirty="0"/>
              <a:t> je </a:t>
            </a:r>
            <a:r>
              <a:rPr lang="en-US" dirty="0" err="1"/>
              <a:t>tehnika</a:t>
            </a:r>
            <a:r>
              <a:rPr lang="en-US" dirty="0"/>
              <a:t> u </a:t>
            </a:r>
            <a:r>
              <a:rPr lang="en-US" dirty="0" err="1"/>
              <a:t>kojoj</a:t>
            </a:r>
            <a:r>
              <a:rPr lang="en-US" dirty="0"/>
              <a:t> </a:t>
            </a:r>
            <a:r>
              <a:rPr lang="en-US" dirty="0" err="1"/>
              <a:t>vrijednosti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 u </a:t>
            </a:r>
            <a:r>
              <a:rPr lang="en-US" dirty="0" err="1"/>
              <a:t>našem</a:t>
            </a:r>
            <a:r>
              <a:rPr lang="en-US" dirty="0"/>
              <a:t> </a:t>
            </a:r>
            <a:r>
              <a:rPr lang="en-US" dirty="0" err="1"/>
              <a:t>slučaju</a:t>
            </a:r>
            <a:r>
              <a:rPr lang="en-US" dirty="0"/>
              <a:t> od 0 do 255, </a:t>
            </a:r>
            <a:r>
              <a:rPr lang="en-US" dirty="0" err="1"/>
              <a:t>konvertujemo</a:t>
            </a:r>
            <a:r>
              <a:rPr lang="en-US" dirty="0"/>
              <a:t> u </a:t>
            </a:r>
            <a:r>
              <a:rPr lang="en-US" dirty="0" err="1"/>
              <a:t>raspon</a:t>
            </a:r>
            <a:r>
              <a:rPr lang="en-US" dirty="0"/>
              <a:t> od 0 do 1. Ovo je </a:t>
            </a:r>
            <a:r>
              <a:rPr lang="en-US" dirty="0" err="1"/>
              <a:t>standardna</a:t>
            </a:r>
            <a:r>
              <a:rPr lang="en-US" dirty="0"/>
              <a:t> </a:t>
            </a:r>
            <a:r>
              <a:rPr lang="en-US" dirty="0" err="1"/>
              <a:t>praksa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dovodi</a:t>
            </a:r>
            <a:r>
              <a:rPr lang="en-US" dirty="0"/>
              <a:t> do </a:t>
            </a:r>
            <a:r>
              <a:rPr lang="en-US" dirty="0" err="1"/>
              <a:t>brže</a:t>
            </a:r>
            <a:r>
              <a:rPr lang="en-US" dirty="0"/>
              <a:t> </a:t>
            </a:r>
            <a:r>
              <a:rPr lang="en-US" dirty="0" err="1"/>
              <a:t>konvergencije</a:t>
            </a:r>
            <a:r>
              <a:rPr lang="en-US" dirty="0"/>
              <a:t> </a:t>
            </a:r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Zašto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proširujemo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proširujemo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 </a:t>
            </a:r>
            <a:r>
              <a:rPr lang="en-US" dirty="0" err="1"/>
              <a:t>kreiramo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dvije</a:t>
            </a:r>
            <a:r>
              <a:rPr lang="en-US" dirty="0"/>
              <a:t>. </a:t>
            </a:r>
            <a:r>
              <a:rPr lang="en-US" dirty="0" err="1"/>
              <a:t>Razlog</a:t>
            </a:r>
            <a:r>
              <a:rPr lang="en-US" dirty="0"/>
              <a:t>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jeste</a:t>
            </a:r>
            <a:r>
              <a:rPr lang="en-US" dirty="0"/>
              <a:t> da je </a:t>
            </a: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poprilično</a:t>
            </a:r>
            <a:r>
              <a:rPr lang="en-US" dirty="0"/>
              <a:t> </a:t>
            </a:r>
            <a:r>
              <a:rPr lang="en-US" dirty="0" err="1"/>
              <a:t>mali</a:t>
            </a:r>
            <a:r>
              <a:rPr lang="en-US" dirty="0"/>
              <a:t>. </a:t>
            </a:r>
            <a:r>
              <a:rPr lang="en-US" dirty="0" err="1"/>
              <a:t>Povećavanjem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primjera</a:t>
            </a:r>
            <a:r>
              <a:rPr lang="en-US" dirty="0"/>
              <a:t> </a:t>
            </a:r>
            <a:r>
              <a:rPr lang="en-US" dirty="0" err="1"/>
              <a:t>pokušavamo</a:t>
            </a:r>
            <a:r>
              <a:rPr lang="en-US" dirty="0"/>
              <a:t> da </a:t>
            </a:r>
            <a:r>
              <a:rPr lang="en-US" dirty="0" err="1"/>
              <a:t>navedemo</a:t>
            </a:r>
            <a:r>
              <a:rPr lang="en-US" dirty="0"/>
              <a:t> model da </a:t>
            </a:r>
            <a:r>
              <a:rPr lang="en-US" dirty="0" err="1"/>
              <a:t>bolje</a:t>
            </a:r>
            <a:r>
              <a:rPr lang="en-US" dirty="0"/>
              <a:t> generalize problem. </a:t>
            </a:r>
          </a:p>
          <a:p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 </a:t>
            </a:r>
            <a:r>
              <a:rPr lang="en-US" dirty="0" err="1"/>
              <a:t>preslikamo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horizontalno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vertiklano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Na koji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se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augmentacija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 err="1"/>
              <a:t>Augmentacija</a:t>
            </a:r>
            <a:r>
              <a:rPr lang="en-US" dirty="0"/>
              <a:t> se </a:t>
            </a:r>
            <a:r>
              <a:rPr lang="en-US" dirty="0" err="1"/>
              <a:t>isključivo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trening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 Ova </a:t>
            </a:r>
            <a:r>
              <a:rPr lang="en-US" dirty="0" err="1"/>
              <a:t>tehnika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da </a:t>
            </a:r>
            <a:r>
              <a:rPr lang="en-US" dirty="0" err="1"/>
              <a:t>bolje</a:t>
            </a:r>
            <a:r>
              <a:rPr lang="en-US" dirty="0"/>
              <a:t> model </a:t>
            </a:r>
            <a:r>
              <a:rPr lang="en-US" dirty="0" err="1"/>
              <a:t>generalizira</a:t>
            </a:r>
            <a:r>
              <a:rPr lang="en-US" dirty="0"/>
              <a:t> problem. Sam </a:t>
            </a:r>
            <a:r>
              <a:rPr lang="en-US" dirty="0" err="1"/>
              <a:t>validacijski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bi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trebao</a:t>
            </a:r>
            <a:r>
              <a:rPr lang="en-US" dirty="0"/>
              <a:t> </a:t>
            </a:r>
            <a:r>
              <a:rPr lang="en-US" dirty="0" err="1"/>
              <a:t>reći</a:t>
            </a:r>
            <a:r>
              <a:rPr lang="en-US" dirty="0"/>
              <a:t> da li je model </a:t>
            </a:r>
            <a:r>
              <a:rPr lang="en-US" dirty="0" err="1"/>
              <a:t>uspio</a:t>
            </a:r>
            <a:r>
              <a:rPr lang="en-US" dirty="0"/>
              <a:t> </a:t>
            </a:r>
            <a:r>
              <a:rPr lang="en-US" dirty="0" err="1"/>
              <a:t>generalizirati</a:t>
            </a:r>
            <a:r>
              <a:rPr lang="en-US" dirty="0"/>
              <a:t> a ne da li model </a:t>
            </a:r>
            <a:r>
              <a:rPr lang="en-US" dirty="0" err="1"/>
              <a:t>uspješno</a:t>
            </a:r>
            <a:r>
              <a:rPr lang="en-US" dirty="0"/>
              <a:t> </a:t>
            </a:r>
            <a:r>
              <a:rPr lang="en-US" dirty="0" err="1"/>
              <a:t>prepozna</a:t>
            </a:r>
            <a:r>
              <a:rPr lang="en-US" dirty="0"/>
              <a:t> </a:t>
            </a:r>
            <a:r>
              <a:rPr lang="en-US" dirty="0" err="1"/>
              <a:t>preslikanu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A785-91A4-4858-91F9-18C65D64E1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8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3B6D-3163-47C3-9DB9-B6EA961A8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62C81-D2B1-4B5E-A3B8-82BEAE4F2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02CBA-94DC-4429-A4DD-669E160C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B2272-A89D-4DA5-B536-D3A04518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91EB3-BB83-4A04-8DA5-48AC53C3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2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95DC-4846-499A-9AE3-BD42BAC4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019D-F32C-4F0C-91F6-5233A04E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ABA5E-8F00-4A33-8387-2D21E48B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1E93E-323C-42B9-B9CD-9C924645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F370D-5722-4E2F-9E79-89E6E605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F12F-2C45-419A-A705-E1A60F14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E991-E608-49F4-8BD6-AFA730C62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DC662-FBCD-41BF-A8D6-5CB57FFE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7C2BE-02A3-4D8A-99C1-5BE0E74E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53542-0F25-4070-A47F-8E6A8EC4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CFD8-ACB2-46C7-9CF3-C9E9B4DA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8796B-0D0C-4FB4-B9D1-C407ABEF9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7CE8F-556F-446F-859D-92BD1A6DF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42BC8-8C0A-4A9C-97AE-D98523FB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AF4B8-8B65-4D96-8EB4-0A2C8647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D25-2D13-46A1-9C35-2B47201B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4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FD9D-1CF7-47DB-8130-FCCA0C41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54DF0-5840-43D0-BFEB-8BD9F9B0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73804-2CC3-4D72-A4C5-0C1FFC10A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96EB3-B331-4C74-B1DF-5BF3D2499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37DC6-D9B3-4B8F-84F0-03CDEB4AC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16214-5154-4548-8C62-75E31BC3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EB425-358F-44A5-836D-AC35AF84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706DA-0A0C-4869-93B7-9479174D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1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71B4-E30C-4F3F-B8A0-7DD6E6B8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E56A3-1551-41A6-989E-5692F87E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01AEC-C94D-43F8-97E6-12F4454C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B8DCC-2BE3-4752-B70C-C0CE12DB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7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5200E-32B4-4F5A-B311-9DCC76FA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961B0-5EC7-4890-A0EB-86A108AF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ACC5-0875-4E07-8A28-8BCF83B9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4900-188E-4DC3-96E6-99D9675B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D825F-FDE7-484E-84B4-9966DE526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DBBEF-FC4B-4F44-A244-F0FE4564B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56A5E-EA9B-4FEB-A0FD-2386FEB3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353D0-70C5-4594-919C-F065CDE4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5FDBD-DC20-4E4F-9B5F-5F11B014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1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E1B3-A72F-4D2A-94CE-A678E707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anchorCtr="0"/>
          <a:lstStyle>
            <a:lvl1pPr algn="l"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ABE76-5ACB-4BE4-B46B-EAE595CAD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28920-B350-44EB-A6D2-8C7917EB0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BC412-E77C-4857-BDF8-9CBA4785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13BAA-0590-4BB6-8329-3D50C158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9DD94-A046-42E7-8478-AA879A42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5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67A2-731D-4D61-A128-DD329A62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BE0D-35C1-4EBA-8D27-AB4F28F53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AEA0-6188-4BCA-9936-D40496BF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892FD-79B6-4EC3-B725-FB600946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74E9D-1A45-42A5-A923-E9748B3F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A79EA-D7E8-445C-B5D5-8414B10CF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78FAE-8400-4566-99BC-72B8451A2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FB3A0-B99D-4B67-B95D-8172842F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1D7A-3BAC-4F4D-998C-ECBA6F9D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B05C-99C6-408E-927F-835B3249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0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F911E-A021-4FA1-93F6-42150D07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13C43-FC44-4A2B-86DE-BEB64887E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7145B-8B9E-4706-B6E0-73A36ED1A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6B63C-CDDC-45F1-A941-1E23D4E8195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BC06-E26C-40A6-A181-7F27BC34D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ED9C6-D83D-4A48-8B7A-214CD1D21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2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DB36-990C-47F5-9AEA-61517AE1D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640"/>
            <a:ext cx="9144000" cy="5426719"/>
          </a:xfrm>
        </p:spPr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sz="4000" b="1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UNIVERZITET U TUZLI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FAKULTET ELEKTROTEHNIKE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s-Latn-BA" sz="4000" b="1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Uporedna analiza </a:t>
            </a:r>
            <a:r>
              <a:rPr lang="bs-Latn-BA" sz="4000" b="1" cap="small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bs-Latn-BA" sz="4000" b="1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cap="small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bs-Latn-BA" sz="4000" b="1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.NET okruženja za treniranje modela dubokog učenja na primjeru detekcije raka pluća</a:t>
            </a:r>
            <a:br>
              <a:rPr lang="en-US" sz="4000" b="1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4000" b="1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Student: Omar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Kurtović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dr.sci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Damir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Demirović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vanr.prof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Tuzla, August 2026.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74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7B68-A7A1-41B4-9E17-A1182295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088EF0A-B97F-44BE-88A0-40B675B1C3C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1" b="339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83B05-5000-4EC6-A370-B9403E40B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l-PL" sz="2000" dirty="0"/>
              <a:t>Python je standard za probleme mašinskog učenja</a:t>
            </a:r>
            <a:endParaRPr lang="en-US" sz="2000" dirty="0"/>
          </a:p>
          <a:p>
            <a:r>
              <a:rPr lang="en-US" sz="2000" dirty="0" err="1"/>
              <a:t>Veliki</a:t>
            </a:r>
            <a:r>
              <a:rPr lang="en-US" sz="2000" dirty="0"/>
              <a:t> </a:t>
            </a:r>
            <a:r>
              <a:rPr lang="en-US" sz="2000" dirty="0" err="1"/>
              <a:t>broj</a:t>
            </a:r>
            <a:r>
              <a:rPr lang="en-US" sz="2000" dirty="0"/>
              <a:t> </a:t>
            </a:r>
            <a:r>
              <a:rPr lang="en-US" sz="2000" dirty="0" err="1"/>
              <a:t>postojećih</a:t>
            </a:r>
            <a:r>
              <a:rPr lang="en-US" sz="2000" dirty="0"/>
              <a:t> </a:t>
            </a:r>
            <a:r>
              <a:rPr lang="en-US" sz="2000" dirty="0" err="1"/>
              <a:t>aplikacija</a:t>
            </a:r>
            <a:r>
              <a:rPr lang="en-US" sz="2000" dirty="0"/>
              <a:t> </a:t>
            </a:r>
            <a:r>
              <a:rPr lang="en-US" sz="2000" dirty="0" err="1"/>
              <a:t>gradi</a:t>
            </a:r>
            <a:r>
              <a:rPr lang="en-US" sz="2000" dirty="0"/>
              <a:t> se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drugim</a:t>
            </a:r>
            <a:r>
              <a:rPr lang="en-US" sz="2000" dirty="0"/>
              <a:t> </a:t>
            </a:r>
            <a:r>
              <a:rPr lang="en-US" sz="2000" dirty="0" err="1"/>
              <a:t>tehnologijama</a:t>
            </a:r>
            <a:r>
              <a:rPr lang="en-US" sz="2000" dirty="0"/>
              <a:t>: TypeScript/JavaScript, Java, C#/.NET, PHP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Integracija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rješenja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dodatnu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kompleksnost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Pitanje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/>
              <a:t>koje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prednosti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mane </a:t>
            </a:r>
            <a:r>
              <a:rPr lang="en-US" sz="2000" dirty="0" err="1"/>
              <a:t>rješavanja</a:t>
            </a:r>
            <a:r>
              <a:rPr lang="en-US" sz="2000" dirty="0"/>
              <a:t> </a:t>
            </a:r>
            <a:r>
              <a:rPr lang="en-US" sz="2000" dirty="0" err="1"/>
              <a:t>problema</a:t>
            </a:r>
            <a:r>
              <a:rPr lang="en-US" sz="2000" dirty="0"/>
              <a:t> </a:t>
            </a:r>
            <a:r>
              <a:rPr lang="en-US" sz="2000" dirty="0" err="1"/>
              <a:t>mašinskog</a:t>
            </a:r>
            <a:r>
              <a:rPr lang="en-US" sz="2000" dirty="0"/>
              <a:t> </a:t>
            </a:r>
            <a:r>
              <a:rPr lang="en-US" sz="2000" dirty="0" err="1"/>
              <a:t>učenja</a:t>
            </a:r>
            <a:r>
              <a:rPr lang="en-US" sz="2000" dirty="0"/>
              <a:t> u </a:t>
            </a:r>
            <a:r>
              <a:rPr lang="en-US" sz="2000" dirty="0" err="1"/>
              <a:t>alternativnim</a:t>
            </a:r>
            <a:r>
              <a:rPr lang="en-US" sz="2000" dirty="0"/>
              <a:t> </a:t>
            </a:r>
            <a:r>
              <a:rPr lang="en-US" sz="2000" dirty="0" err="1"/>
              <a:t>ekosistemima</a:t>
            </a:r>
            <a:r>
              <a:rPr lang="en-US" sz="2000" dirty="0"/>
              <a:t>, </a:t>
            </a:r>
            <a:r>
              <a:rPr lang="en-US" sz="2000" dirty="0" err="1"/>
              <a:t>poput</a:t>
            </a:r>
            <a:r>
              <a:rPr lang="en-US" sz="2000" dirty="0"/>
              <a:t> .NET-a?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7F9F0-2DEF-4CAE-BC7B-9E4C123832E7}"/>
              </a:ext>
            </a:extLst>
          </p:cNvPr>
          <p:cNvSpPr txBox="1"/>
          <p:nvPr/>
        </p:nvSpPr>
        <p:spPr>
          <a:xfrm>
            <a:off x="5183188" y="5940357"/>
            <a:ext cx="617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Najčešće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korištena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okruženja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za AI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projekte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Octoverse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0443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F110-AACF-4E04-B21A-4E746508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problema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5AAF4-CF89-4D12-B712-B5D660BF3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Poređenje</a:t>
            </a:r>
            <a:r>
              <a:rPr lang="en-US" dirty="0"/>
              <a:t> </a:t>
            </a:r>
            <a:r>
              <a:rPr lang="en-US" dirty="0" err="1"/>
              <a:t>ekosistema</a:t>
            </a:r>
            <a:r>
              <a:rPr lang="en-US" dirty="0"/>
              <a:t> </a:t>
            </a:r>
            <a:r>
              <a:rPr lang="en-US" dirty="0" err="1"/>
              <a:t>vrši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praktičnom</a:t>
            </a:r>
            <a:r>
              <a:rPr lang="en-US" dirty="0"/>
              <a:t> </a:t>
            </a:r>
            <a:r>
              <a:rPr lang="en-US" dirty="0" err="1"/>
              <a:t>primjeru</a:t>
            </a:r>
            <a:r>
              <a:rPr lang="en-US" dirty="0"/>
              <a:t> — </a:t>
            </a:r>
            <a:r>
              <a:rPr lang="en-US" dirty="0" err="1"/>
              <a:t>detekciji</a:t>
            </a:r>
            <a:r>
              <a:rPr lang="en-US" dirty="0"/>
              <a:t> </a:t>
            </a:r>
            <a:r>
              <a:rPr lang="en-US" dirty="0" err="1"/>
              <a:t>raka</a:t>
            </a:r>
            <a:r>
              <a:rPr lang="en-US" dirty="0"/>
              <a:t> </a:t>
            </a:r>
            <a:r>
              <a:rPr lang="en-US" dirty="0" err="1"/>
              <a:t>pluća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javno</a:t>
            </a:r>
            <a:r>
              <a:rPr lang="en-US" dirty="0"/>
              <a:t> </a:t>
            </a:r>
            <a:r>
              <a:rPr lang="en-US" dirty="0" err="1"/>
              <a:t>dostupnim</a:t>
            </a:r>
            <a:r>
              <a:rPr lang="en-US" dirty="0"/>
              <a:t> </a:t>
            </a:r>
            <a:r>
              <a:rPr lang="en-US" dirty="0" err="1"/>
              <a:t>medicinskim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.</a:t>
            </a:r>
          </a:p>
          <a:p>
            <a:r>
              <a:rPr lang="en-US" dirty="0"/>
              <a:t>Za </a:t>
            </a:r>
            <a:r>
              <a:rPr lang="en-US" dirty="0" err="1"/>
              <a:t>detekciju</a:t>
            </a:r>
            <a:r>
              <a:rPr lang="en-US" dirty="0"/>
              <a:t> je </a:t>
            </a:r>
            <a:r>
              <a:rPr lang="en-US" dirty="0" err="1"/>
              <a:t>implementirana</a:t>
            </a:r>
            <a:r>
              <a:rPr lang="en-US" dirty="0"/>
              <a:t> </a:t>
            </a:r>
            <a:r>
              <a:rPr lang="en-US" dirty="0" err="1"/>
              <a:t>konvoluciona</a:t>
            </a:r>
            <a:r>
              <a:rPr lang="en-US" dirty="0"/>
              <a:t> </a:t>
            </a:r>
            <a:r>
              <a:rPr lang="en-US" dirty="0" err="1"/>
              <a:t>neuralna</a:t>
            </a:r>
            <a:r>
              <a:rPr lang="en-US" dirty="0"/>
              <a:t> </a:t>
            </a:r>
            <a:r>
              <a:rPr lang="en-US" dirty="0" err="1"/>
              <a:t>mreža</a:t>
            </a:r>
            <a:r>
              <a:rPr lang="en-US" dirty="0"/>
              <a:t> (CNN).</a:t>
            </a:r>
          </a:p>
          <a:p>
            <a:r>
              <a:rPr lang="en-US" dirty="0" err="1"/>
              <a:t>Evaluacija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</a:t>
            </a:r>
            <a:r>
              <a:rPr lang="en-US" dirty="0" err="1"/>
              <a:t>standardnim</a:t>
            </a:r>
            <a:r>
              <a:rPr lang="en-US" dirty="0"/>
              <a:t> </a:t>
            </a:r>
            <a:r>
              <a:rPr lang="en-US" dirty="0" err="1"/>
              <a:t>klasifikacijskim</a:t>
            </a:r>
            <a:r>
              <a:rPr lang="en-US" dirty="0"/>
              <a:t> </a:t>
            </a:r>
            <a:r>
              <a:rPr lang="en-US" dirty="0" err="1"/>
              <a:t>metrikama</a:t>
            </a:r>
            <a:r>
              <a:rPr lang="en-US" dirty="0"/>
              <a:t>: </a:t>
            </a:r>
            <a:r>
              <a:rPr lang="en-US" dirty="0" err="1"/>
              <a:t>tačnost</a:t>
            </a:r>
            <a:r>
              <a:rPr lang="en-US" dirty="0"/>
              <a:t>, </a:t>
            </a:r>
            <a:r>
              <a:rPr lang="en-US" dirty="0" err="1"/>
              <a:t>preciznost</a:t>
            </a:r>
            <a:r>
              <a:rPr lang="en-US" dirty="0"/>
              <a:t>, </a:t>
            </a:r>
            <a:r>
              <a:rPr lang="en-US" dirty="0" err="1"/>
              <a:t>odziv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F1 </a:t>
            </a:r>
            <a:r>
              <a:rPr lang="en-US" dirty="0" err="1"/>
              <a:t>mjera</a:t>
            </a:r>
            <a:r>
              <a:rPr lang="en-US" dirty="0"/>
              <a:t>. </a:t>
            </a:r>
            <a:r>
              <a:rPr lang="en-US" dirty="0" err="1"/>
              <a:t>Dodatno</a:t>
            </a:r>
            <a:r>
              <a:rPr lang="en-US" dirty="0"/>
              <a:t> se </a:t>
            </a:r>
            <a:r>
              <a:rPr lang="en-US" dirty="0" err="1"/>
              <a:t>porede</a:t>
            </a:r>
            <a:r>
              <a:rPr lang="en-US" dirty="0"/>
              <a:t> </a:t>
            </a:r>
            <a:r>
              <a:rPr lang="en-US" dirty="0" err="1"/>
              <a:t>vrijeme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jednostavnost</a:t>
            </a:r>
            <a:r>
              <a:rPr lang="en-US" dirty="0"/>
              <a:t> </a:t>
            </a:r>
            <a:r>
              <a:rPr lang="en-US" dirty="0" err="1"/>
              <a:t>implementacije</a:t>
            </a:r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D400194-B4B8-4E2B-B32F-6755728B20E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1" b="2861"/>
          <a:stretch>
            <a:fillRect/>
          </a:stretch>
        </p:blipFill>
        <p:spPr>
          <a:prstGeom prst="roundRect">
            <a:avLst>
              <a:gd name="adj" fmla="val 7156"/>
            </a:avLst>
          </a:prstGeom>
        </p:spPr>
      </p:pic>
    </p:spTree>
    <p:extLst>
      <p:ext uri="{BB962C8B-B14F-4D97-AF65-F5344CB8AC3E}">
        <p14:creationId xmlns:p14="http://schemas.microsoft.com/office/powerpoint/2010/main" val="331230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6145-742D-4748-9401-149F1C80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Implementacija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63760-CF12-426E-A02A-08EEC6E9C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Za </a:t>
            </a:r>
            <a:r>
              <a:rPr lang="en-US" dirty="0" err="1"/>
              <a:t>implementaciju</a:t>
            </a:r>
            <a:r>
              <a:rPr lang="en-US" dirty="0"/>
              <a:t> </a:t>
            </a:r>
            <a:r>
              <a:rPr lang="en-US" dirty="0" err="1"/>
              <a:t>konvolucione</a:t>
            </a:r>
            <a:r>
              <a:rPr lang="en-US" dirty="0"/>
              <a:t> </a:t>
            </a:r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 </a:t>
            </a:r>
            <a:r>
              <a:rPr lang="en-US" dirty="0" err="1"/>
              <a:t>korištene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otvorenog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PyTorch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TorchSharp</a:t>
            </a:r>
            <a:r>
              <a:rPr lang="en-US" dirty="0"/>
              <a:t>, za Python, </a:t>
            </a:r>
            <a:r>
              <a:rPr lang="en-US" dirty="0" err="1"/>
              <a:t>odnosno</a:t>
            </a:r>
            <a:r>
              <a:rPr lang="en-US" dirty="0"/>
              <a:t> .NET </a:t>
            </a:r>
            <a:r>
              <a:rPr lang="en-US" dirty="0" err="1"/>
              <a:t>okruženje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Obje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omotači</a:t>
            </a:r>
            <a:r>
              <a:rPr lang="en-US" dirty="0"/>
              <a:t> (</a:t>
            </a:r>
            <a:r>
              <a:rPr lang="en-US" dirty="0" err="1"/>
              <a:t>engl.</a:t>
            </a:r>
            <a:r>
              <a:rPr lang="en-US" dirty="0"/>
              <a:t> </a:t>
            </a:r>
            <a:r>
              <a:rPr lang="en-US" i="1" dirty="0"/>
              <a:t>wrappers</a:t>
            </a:r>
            <a:r>
              <a:rPr lang="en-US" dirty="0"/>
              <a:t>)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istim</a:t>
            </a:r>
            <a:r>
              <a:rPr lang="en-US" dirty="0"/>
              <a:t> C++ </a:t>
            </a:r>
            <a:r>
              <a:rPr lang="en-US" dirty="0" err="1"/>
              <a:t>jezgrom</a:t>
            </a:r>
            <a:r>
              <a:rPr lang="en-US" dirty="0"/>
              <a:t>,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distribuira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LibTorch</a:t>
            </a:r>
            <a:r>
              <a:rPr lang="en-US" dirty="0"/>
              <a:t> — u </a:t>
            </a:r>
            <a:r>
              <a:rPr lang="en-US" dirty="0" err="1"/>
              <a:t>njemu</a:t>
            </a:r>
            <a:r>
              <a:rPr lang="en-US" dirty="0"/>
              <a:t> se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sva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Kako</a:t>
            </a:r>
            <a:r>
              <a:rPr lang="en-US" dirty="0"/>
              <a:t> je </a:t>
            </a:r>
            <a:r>
              <a:rPr lang="en-US" dirty="0" err="1"/>
              <a:t>pozadinska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ista</a:t>
            </a:r>
            <a:r>
              <a:rPr lang="en-US" dirty="0"/>
              <a:t>, </a:t>
            </a:r>
            <a:r>
              <a:rPr lang="en-US" dirty="0" err="1"/>
              <a:t>odabir</a:t>
            </a:r>
            <a:r>
              <a:rPr lang="en-US" dirty="0"/>
              <a:t> Python </a:t>
            </a:r>
            <a:r>
              <a:rPr lang="en-US" dirty="0" err="1"/>
              <a:t>ili</a:t>
            </a:r>
            <a:r>
              <a:rPr lang="en-US" dirty="0"/>
              <a:t> .NET </a:t>
            </a:r>
            <a:r>
              <a:rPr lang="en-US" dirty="0" err="1"/>
              <a:t>okruženja</a:t>
            </a:r>
            <a:r>
              <a:rPr lang="en-US" dirty="0"/>
              <a:t> </a:t>
            </a:r>
            <a:r>
              <a:rPr lang="en-US" dirty="0" err="1"/>
              <a:t>teorijski</a:t>
            </a:r>
            <a:r>
              <a:rPr lang="en-US" dirty="0"/>
              <a:t> ne bi </a:t>
            </a:r>
            <a:r>
              <a:rPr lang="en-US" dirty="0" err="1"/>
              <a:t>trebao</a:t>
            </a:r>
            <a:r>
              <a:rPr lang="en-US" dirty="0"/>
              <a:t> </a:t>
            </a:r>
            <a:r>
              <a:rPr lang="en-US" dirty="0" err="1"/>
              <a:t>značajno</a:t>
            </a:r>
            <a:r>
              <a:rPr lang="en-US" dirty="0"/>
              <a:t> </a:t>
            </a:r>
            <a:r>
              <a:rPr lang="en-US" dirty="0" err="1"/>
              <a:t>utjecati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849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E29B-4DCC-472C-8716-0E423620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Podaci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49CA4-95EA-4E69-8738-C94E406BB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Korišten</a:t>
            </a:r>
            <a:r>
              <a:rPr lang="en-US" dirty="0"/>
              <a:t> je </a:t>
            </a:r>
            <a:r>
              <a:rPr lang="en-US" dirty="0" err="1"/>
              <a:t>javno</a:t>
            </a:r>
            <a:r>
              <a:rPr lang="en-US" dirty="0"/>
              <a:t> </a:t>
            </a:r>
            <a:r>
              <a:rPr lang="en-US" dirty="0" err="1"/>
              <a:t>dostupan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IQ-OTH/NCCD (</a:t>
            </a:r>
            <a:r>
              <a:rPr lang="en-US" dirty="0" err="1"/>
              <a:t>engl.</a:t>
            </a:r>
            <a:r>
              <a:rPr lang="en-US" dirty="0"/>
              <a:t> </a:t>
            </a:r>
            <a:r>
              <a:rPr lang="en-US" i="1" dirty="0"/>
              <a:t>Iraq-Oncology Teaching Hospital / National Center for Cancer Diseases</a:t>
            </a:r>
            <a:r>
              <a:rPr lang="en-US" dirty="0"/>
              <a:t>), </a:t>
            </a:r>
            <a:r>
              <a:rPr lang="en-US" dirty="0" err="1"/>
              <a:t>preuzet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Kaggle </a:t>
            </a:r>
            <a:r>
              <a:rPr lang="en-US" dirty="0" err="1"/>
              <a:t>platforme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110 </a:t>
            </a:r>
            <a:r>
              <a:rPr lang="en-US" dirty="0" err="1"/>
              <a:t>slučajeva</a:t>
            </a:r>
            <a:r>
              <a:rPr lang="en-US" dirty="0"/>
              <a:t>,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kojih</a:t>
            </a:r>
            <a:r>
              <a:rPr lang="en-US" dirty="0"/>
              <a:t> je </a:t>
            </a:r>
            <a:r>
              <a:rPr lang="en-US" dirty="0" err="1"/>
              <a:t>izdvojeno</a:t>
            </a:r>
            <a:r>
              <a:rPr lang="en-US" dirty="0"/>
              <a:t> 1097 </a:t>
            </a:r>
            <a:r>
              <a:rPr lang="en-US" dirty="0" err="1"/>
              <a:t>slika</a:t>
            </a:r>
            <a:r>
              <a:rPr lang="en-US" dirty="0"/>
              <a:t>, </a:t>
            </a:r>
            <a:r>
              <a:rPr lang="en-US" dirty="0" err="1"/>
              <a:t>grupisanih</a:t>
            </a:r>
            <a:r>
              <a:rPr lang="en-US" dirty="0"/>
              <a:t> u tri </a:t>
            </a:r>
            <a:r>
              <a:rPr lang="en-US" dirty="0" err="1"/>
              <a:t>klase</a:t>
            </a:r>
            <a:r>
              <a:rPr lang="en-US" dirty="0"/>
              <a:t>: </a:t>
            </a:r>
          </a:p>
          <a:p>
            <a:r>
              <a:rPr lang="en-US" dirty="0" err="1"/>
              <a:t>Maligno</a:t>
            </a:r>
            <a:r>
              <a:rPr lang="en-US" dirty="0"/>
              <a:t>: 40 </a:t>
            </a:r>
            <a:r>
              <a:rPr lang="en-US" dirty="0" err="1"/>
              <a:t>slučajeva</a:t>
            </a:r>
            <a:endParaRPr lang="en-US" dirty="0"/>
          </a:p>
          <a:p>
            <a:r>
              <a:rPr lang="en-US" dirty="0" err="1"/>
              <a:t>Benigno</a:t>
            </a:r>
            <a:r>
              <a:rPr lang="en-US" dirty="0"/>
              <a:t>: 15 </a:t>
            </a:r>
            <a:r>
              <a:rPr lang="en-US" dirty="0" err="1"/>
              <a:t>slučajeva</a:t>
            </a:r>
            <a:endParaRPr lang="en-US" dirty="0"/>
          </a:p>
          <a:p>
            <a:r>
              <a:rPr lang="en-US" dirty="0" err="1"/>
              <a:t>Normalno</a:t>
            </a:r>
            <a:r>
              <a:rPr lang="en-US" dirty="0"/>
              <a:t>: 55 </a:t>
            </a:r>
            <a:r>
              <a:rPr lang="en-US" dirty="0" err="1"/>
              <a:t>slučajeva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05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66E3-E65B-4C1C-A898-C193B8AD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Preprocesiranja</a:t>
            </a:r>
            <a:r>
              <a:rPr lang="en-US" dirty="0"/>
              <a:t> </a:t>
            </a:r>
            <a:r>
              <a:rPr lang="en-US" dirty="0" err="1"/>
              <a:t>slika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augmentacija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8AA96-E28E-4CAE-8775-04F1D24AA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bs-Latn-BA" dirty="0"/>
              <a:t>Prije treniranja nad podacima su izvršene standardne transformacije, s ciljem uniformnosti podataka, uštede resursa i bolje generalizacije modela.</a:t>
            </a:r>
          </a:p>
          <a:p>
            <a:pPr marL="0" indent="0">
              <a:buNone/>
            </a:pPr>
            <a:r>
              <a:rPr lang="bs-Latn-BA" b="1" dirty="0" err="1"/>
              <a:t>Preprocesiranje</a:t>
            </a:r>
            <a:r>
              <a:rPr lang="bs-Latn-BA" dirty="0"/>
              <a:t>:</a:t>
            </a:r>
          </a:p>
          <a:p>
            <a:r>
              <a:rPr lang="bs-Latn-BA" dirty="0" err="1"/>
              <a:t>Skaliranje</a:t>
            </a:r>
            <a:r>
              <a:rPr lang="bs-Latn-BA" dirty="0"/>
              <a:t> na 256x256 piksela</a:t>
            </a:r>
          </a:p>
          <a:p>
            <a:r>
              <a:rPr lang="bs-Latn-BA" dirty="0"/>
              <a:t>Konverzija u crno-bijelu</a:t>
            </a:r>
          </a:p>
          <a:p>
            <a:r>
              <a:rPr lang="bs-Latn-BA" dirty="0"/>
              <a:t>Normalizacija vrijednosti piksela na raspon [0,1]</a:t>
            </a:r>
          </a:p>
          <a:p>
            <a:pPr marL="0" indent="0">
              <a:buNone/>
            </a:pPr>
            <a:endParaRPr lang="bs-Latn-BA" dirty="0"/>
          </a:p>
          <a:p>
            <a:pPr marL="0" indent="0">
              <a:buNone/>
            </a:pPr>
            <a:r>
              <a:rPr lang="bs-Latn-BA" b="1" dirty="0"/>
              <a:t>Augmentacija</a:t>
            </a:r>
            <a:r>
              <a:rPr lang="bs-Latn-BA" dirty="0"/>
              <a:t>:</a:t>
            </a:r>
          </a:p>
          <a:p>
            <a:r>
              <a:rPr lang="bs-Latn-BA" dirty="0"/>
              <a:t>Horizontalno i vertikalno preslikavanje svake slike</a:t>
            </a:r>
          </a:p>
        </p:txBody>
      </p:sp>
    </p:spTree>
    <p:extLst>
      <p:ext uri="{BB962C8B-B14F-4D97-AF65-F5344CB8AC3E}">
        <p14:creationId xmlns:p14="http://schemas.microsoft.com/office/powerpoint/2010/main" val="350335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994B-8B2B-4805-ADBB-2737DB2F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Raspodjela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6351B-9930-4AAD-8CF3-F9E9D24CA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Implementirana</a:t>
            </a:r>
            <a:r>
              <a:rPr lang="en-US" dirty="0"/>
              <a:t> </a:t>
            </a:r>
            <a:r>
              <a:rPr lang="en-US" dirty="0" err="1"/>
              <a:t>konvoluciona</a:t>
            </a:r>
            <a:r>
              <a:rPr lang="en-US" dirty="0"/>
              <a:t> </a:t>
            </a:r>
            <a:r>
              <a:rPr lang="en-US" dirty="0" err="1"/>
              <a:t>neuronska</a:t>
            </a:r>
            <a:r>
              <a:rPr lang="en-US" dirty="0"/>
              <a:t> </a:t>
            </a:r>
            <a:r>
              <a:rPr lang="en-US" dirty="0" err="1"/>
              <a:t>mreža</a:t>
            </a:r>
            <a:r>
              <a:rPr lang="en-US" dirty="0"/>
              <a:t> se </a:t>
            </a:r>
            <a:r>
              <a:rPr lang="en-US" dirty="0" err="1"/>
              <a:t>sastoji</a:t>
            </a:r>
            <a:r>
              <a:rPr lang="en-US" dirty="0"/>
              <a:t> od </a:t>
            </a:r>
            <a:r>
              <a:rPr lang="en-US" dirty="0" err="1"/>
              <a:t>slijedećih</a:t>
            </a:r>
            <a:r>
              <a:rPr lang="en-US" dirty="0"/>
              <a:t> </a:t>
            </a:r>
            <a:r>
              <a:rPr lang="en-US" dirty="0" err="1"/>
              <a:t>slojeva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188947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2754</TotalTime>
  <Words>1144</Words>
  <Application>Microsoft Office PowerPoint</Application>
  <PresentationFormat>Widescreen</PresentationFormat>
  <Paragraphs>74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 UNIVERZITET U TUZLI FAKULTET ELEKTROTEHNIKE  Uporedna analiza Python i .NET okruženja za treniranje modela dubokog učenja na primjeru detekcije raka pluća  Student: Omar Kurtović Mentor: dr.sci. Damir Demirović, vanr.prof. Tuzla, August 2026. godine</vt:lpstr>
      <vt:lpstr>Cilj rada</vt:lpstr>
      <vt:lpstr>Opis problema</vt:lpstr>
      <vt:lpstr>Implementacija </vt:lpstr>
      <vt:lpstr>Podaci</vt:lpstr>
      <vt:lpstr>Preprocesiranja slika i augmentacija</vt:lpstr>
      <vt:lpstr>Raspodjela podataka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Komparativna analiza ML metodologija</dc:title>
  <dc:creator>Administrator</dc:creator>
  <cp:lastModifiedBy>Administrator</cp:lastModifiedBy>
  <cp:revision>40</cp:revision>
  <dcterms:created xsi:type="dcterms:W3CDTF">2026-05-21T11:24:01Z</dcterms:created>
  <dcterms:modified xsi:type="dcterms:W3CDTF">2026-08-19T16:24:26Z</dcterms:modified>
</cp:coreProperties>
</file>