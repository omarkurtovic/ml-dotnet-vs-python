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75" r:id="rId3"/>
    <p:sldId id="274" r:id="rId4"/>
    <p:sldId id="276" r:id="rId5"/>
    <p:sldId id="266" r:id="rId6"/>
    <p:sldId id="267" r:id="rId7"/>
    <p:sldId id="271" r:id="rId8"/>
    <p:sldId id="268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74483" autoAdjust="0"/>
  </p:normalViewPr>
  <p:slideViewPr>
    <p:cSldViewPr snapToGrid="0">
      <p:cViewPr varScale="1">
        <p:scale>
          <a:sx n="116" d="100"/>
          <a:sy n="116" d="100"/>
        </p:scale>
        <p:origin x="17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A90D3-49B2-4DF6-BAF7-8B743C4BA0C6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0A785-91A4-4858-91F9-18C65D64E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4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Odakle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</a:t>
            </a:r>
            <a:r>
              <a:rPr lang="en-US" dirty="0" err="1"/>
              <a:t>pretpostavka</a:t>
            </a:r>
            <a:r>
              <a:rPr lang="en-US" dirty="0"/>
              <a:t> da je python </a:t>
            </a:r>
            <a:r>
              <a:rPr lang="en-US" dirty="0" err="1"/>
              <a:t>standardni</a:t>
            </a:r>
            <a:r>
              <a:rPr lang="en-US" dirty="0"/>
              <a:t> </a:t>
            </a:r>
            <a:r>
              <a:rPr lang="en-US" dirty="0" err="1"/>
              <a:t>odabir</a:t>
            </a:r>
            <a:r>
              <a:rPr lang="en-US" dirty="0"/>
              <a:t> za </a:t>
            </a:r>
            <a:r>
              <a:rPr lang="en-US" dirty="0" err="1"/>
              <a:t>mašinsko</a:t>
            </a:r>
            <a:r>
              <a:rPr lang="en-US" dirty="0"/>
              <a:t> </a:t>
            </a:r>
            <a:r>
              <a:rPr lang="en-US" u="sng" dirty="0" err="1"/>
              <a:t>učenje</a:t>
            </a:r>
            <a:r>
              <a:rPr lang="en-US" u="sng" dirty="0"/>
              <a:t>?</a:t>
            </a:r>
          </a:p>
          <a:p>
            <a:r>
              <a:rPr lang="en-US" u="sng" dirty="0" err="1"/>
              <a:t>Dominaciju</a:t>
            </a:r>
            <a:r>
              <a:rPr lang="en-US" u="sng" dirty="0"/>
              <a:t> </a:t>
            </a:r>
            <a:r>
              <a:rPr lang="en-US" u="sng" dirty="0" err="1"/>
              <a:t>Pythona</a:t>
            </a:r>
            <a:r>
              <a:rPr lang="en-US" u="sng" dirty="0"/>
              <a:t> </a:t>
            </a:r>
            <a:r>
              <a:rPr lang="en-US" u="sng" dirty="0" err="1"/>
              <a:t>možemo</a:t>
            </a:r>
            <a:r>
              <a:rPr lang="en-US" u="sng" dirty="0"/>
              <a:t> da </a:t>
            </a:r>
            <a:r>
              <a:rPr lang="en-US" u="sng" dirty="0" err="1"/>
              <a:t>vidimo</a:t>
            </a:r>
            <a:r>
              <a:rPr lang="en-US" u="sng" dirty="0"/>
              <a:t> u </a:t>
            </a:r>
            <a:r>
              <a:rPr lang="en-US" u="sng" dirty="0" err="1"/>
              <a:t>istraživanjima</a:t>
            </a:r>
            <a:r>
              <a:rPr lang="en-US" u="sng" dirty="0"/>
              <a:t> </a:t>
            </a:r>
            <a:r>
              <a:rPr lang="en-US" u="sng" dirty="0" err="1"/>
              <a:t>kompanija</a:t>
            </a:r>
            <a:r>
              <a:rPr lang="en-US" u="sng" dirty="0"/>
              <a:t> </a:t>
            </a:r>
            <a:r>
              <a:rPr lang="en-US" u="sng" dirty="0" err="1"/>
              <a:t>poput</a:t>
            </a:r>
            <a:r>
              <a:rPr lang="en-US" u="sng" dirty="0"/>
              <a:t> GitHub. Na </a:t>
            </a:r>
            <a:r>
              <a:rPr lang="en-US" u="sng" dirty="0" err="1"/>
              <a:t>slijedećem</a:t>
            </a:r>
            <a:r>
              <a:rPr lang="en-US" u="sng" dirty="0"/>
              <a:t> </a:t>
            </a:r>
            <a:r>
              <a:rPr lang="en-US" u="sng" dirty="0" err="1"/>
              <a:t>slajdu</a:t>
            </a:r>
            <a:r>
              <a:rPr lang="en-US" u="sng" dirty="0"/>
              <a:t> je </a:t>
            </a:r>
            <a:r>
              <a:rPr lang="en-US" u="sng" dirty="0" err="1"/>
              <a:t>prikazan</a:t>
            </a:r>
            <a:r>
              <a:rPr lang="en-US" u="sng" dirty="0"/>
              <a:t> </a:t>
            </a:r>
            <a:r>
              <a:rPr lang="en-US" u="sng" dirty="0" err="1"/>
              <a:t>grafikon</a:t>
            </a:r>
            <a:r>
              <a:rPr lang="en-US" u="sng" dirty="0"/>
              <a:t> u </a:t>
            </a:r>
            <a:r>
              <a:rPr lang="en-US" u="sng" dirty="0" err="1"/>
              <a:t>kojem</a:t>
            </a:r>
            <a:r>
              <a:rPr lang="en-US" u="sng" dirty="0"/>
              <a:t> se </a:t>
            </a:r>
            <a:r>
              <a:rPr lang="en-US" u="sng" dirty="0" err="1"/>
              <a:t>vidi</a:t>
            </a:r>
            <a:r>
              <a:rPr lang="en-US" u="sng" dirty="0"/>
              <a:t> da se u Python </a:t>
            </a:r>
            <a:r>
              <a:rPr lang="en-US" u="sng" dirty="0" err="1"/>
              <a:t>piše</a:t>
            </a:r>
            <a:r>
              <a:rPr lang="en-US" u="sng" dirty="0"/>
              <a:t> </a:t>
            </a:r>
            <a:r>
              <a:rPr lang="en-US" u="sng" dirty="0" err="1"/>
              <a:t>gotovo</a:t>
            </a:r>
            <a:r>
              <a:rPr lang="en-US" u="sng" dirty="0"/>
              <a:t> </a:t>
            </a:r>
            <a:r>
              <a:rPr lang="en-US" u="sng" dirty="0" err="1"/>
              <a:t>pola</a:t>
            </a:r>
            <a:r>
              <a:rPr lang="en-US" u="sng" dirty="0"/>
              <a:t> </a:t>
            </a:r>
            <a:r>
              <a:rPr lang="en-US" u="sng" dirty="0" err="1"/>
              <a:t>svih</a:t>
            </a:r>
            <a:r>
              <a:rPr lang="en-US" u="sng" dirty="0"/>
              <a:t> </a:t>
            </a:r>
            <a:r>
              <a:rPr lang="en-US" u="sng" dirty="0" err="1"/>
              <a:t>novih</a:t>
            </a:r>
            <a:r>
              <a:rPr lang="en-US" u="sng" dirty="0"/>
              <a:t> AI </a:t>
            </a:r>
            <a:r>
              <a:rPr lang="en-US" u="sng" dirty="0" err="1"/>
              <a:t>projekata</a:t>
            </a:r>
            <a:r>
              <a:rPr lang="en-US" u="sng" dirty="0"/>
              <a:t>. </a:t>
            </a:r>
          </a:p>
          <a:p>
            <a:endParaRPr lang="en-US" u="sng" dirty="0"/>
          </a:p>
          <a:p>
            <a:endParaRPr lang="en-US" u="sng" dirty="0"/>
          </a:p>
          <a:p>
            <a:r>
              <a:rPr lang="en-US" u="sng" dirty="0" err="1"/>
              <a:t>Kakve</a:t>
            </a:r>
            <a:r>
              <a:rPr lang="en-US" u="sng" dirty="0"/>
              <a:t> </a:t>
            </a:r>
            <a:r>
              <a:rPr lang="en-US" u="sng" dirty="0" err="1"/>
              <a:t>kompleksnosti</a:t>
            </a:r>
            <a:r>
              <a:rPr lang="en-US" u="sng" dirty="0"/>
              <a:t> </a:t>
            </a:r>
            <a:r>
              <a:rPr lang="en-US" u="sng" dirty="0" err="1"/>
              <a:t>donosi</a:t>
            </a:r>
            <a:r>
              <a:rPr lang="en-US" u="sng" dirty="0"/>
              <a:t> Python </a:t>
            </a:r>
            <a:r>
              <a:rPr lang="en-US" u="sng" dirty="0" err="1"/>
              <a:t>integracija</a:t>
            </a:r>
            <a:r>
              <a:rPr lang="en-US" u="sng" dirty="0"/>
              <a:t>?</a:t>
            </a:r>
            <a:br>
              <a:rPr lang="en-US" u="sng" dirty="0"/>
            </a:br>
            <a:r>
              <a:rPr lang="bs-Latn-BA" dirty="0"/>
              <a:t>Integracija </a:t>
            </a:r>
            <a:r>
              <a:rPr lang="bs-Latn-BA" dirty="0" err="1"/>
              <a:t>Pythona</a:t>
            </a:r>
            <a:r>
              <a:rPr lang="bs-Latn-BA" dirty="0"/>
              <a:t> u postojeći sistem donosi nekoliko troškova. Prvi je komunikacija između dva </a:t>
            </a:r>
            <a:r>
              <a:rPr lang="bs-Latn-BA" dirty="0" err="1"/>
              <a:t>okruženja</a:t>
            </a:r>
            <a:r>
              <a:rPr lang="bs-Latn-BA" dirty="0"/>
              <a:t> — umjesto direktnog poziva unutar istog procesa, mora se implementirati poseban sloj, najčešće web API. Drugi je operativni: dva </a:t>
            </a:r>
            <a:r>
              <a:rPr lang="bs-Latn-BA" dirty="0" err="1"/>
              <a:t>runtimea</a:t>
            </a:r>
            <a:r>
              <a:rPr lang="bs-Latn-BA" dirty="0"/>
              <a:t>, dva lanca zavisnosti i odvojen </a:t>
            </a:r>
            <a:r>
              <a:rPr lang="bs-Latn-BA" dirty="0" err="1"/>
              <a:t>deployment</a:t>
            </a:r>
            <a:r>
              <a:rPr lang="bs-Latn-BA" dirty="0"/>
              <a:t>. Treći je kadrovski — postojeći </a:t>
            </a:r>
            <a:r>
              <a:rPr lang="bs-Latn-BA" dirty="0" err="1"/>
              <a:t>developeri</a:t>
            </a:r>
            <a:r>
              <a:rPr lang="bs-Latn-BA" dirty="0"/>
              <a:t> moraju </a:t>
            </a:r>
            <a:r>
              <a:rPr lang="bs-Latn-BA" dirty="0" err="1"/>
              <a:t>naučiti</a:t>
            </a:r>
            <a:r>
              <a:rPr lang="bs-Latn-BA" dirty="0"/>
              <a:t> </a:t>
            </a:r>
            <a:r>
              <a:rPr lang="bs-Latn-BA" dirty="0" err="1"/>
              <a:t>Python</a:t>
            </a:r>
            <a:r>
              <a:rPr lang="bs-Latn-BA" dirty="0"/>
              <a:t> ili se moraju zaposliti novi.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19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87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 err="1"/>
              <a:t>Zašto</a:t>
            </a:r>
            <a:r>
              <a:rPr lang="en-US" b="0" dirty="0"/>
              <a:t> </a:t>
            </a:r>
            <a:r>
              <a:rPr lang="en-US" b="0" dirty="0" err="1"/>
              <a:t>baš</a:t>
            </a:r>
            <a:r>
              <a:rPr lang="en-US" b="0" dirty="0"/>
              <a:t> </a:t>
            </a:r>
            <a:r>
              <a:rPr lang="en-US" b="0" dirty="0" err="1"/>
              <a:t>PyTorch</a:t>
            </a:r>
            <a:r>
              <a:rPr lang="en-US" b="0" dirty="0"/>
              <a:t> </a:t>
            </a:r>
            <a:r>
              <a:rPr lang="en-US" b="0" dirty="0" err="1"/>
              <a:t>i</a:t>
            </a:r>
            <a:r>
              <a:rPr lang="en-US" b="0" dirty="0"/>
              <a:t> </a:t>
            </a:r>
            <a:r>
              <a:rPr lang="en-US" b="0" dirty="0" err="1"/>
              <a:t>TorchSharp</a:t>
            </a:r>
            <a:r>
              <a:rPr lang="en-US" b="0" dirty="0"/>
              <a:t>?</a:t>
            </a:r>
            <a:br>
              <a:rPr lang="en-US" dirty="0"/>
            </a:br>
            <a:r>
              <a:rPr lang="en-US" dirty="0" err="1"/>
              <a:t>Implementacija</a:t>
            </a:r>
            <a:r>
              <a:rPr lang="en-US" dirty="0"/>
              <a:t> je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moguća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u </a:t>
            </a:r>
            <a:r>
              <a:rPr lang="en-US" dirty="0" err="1"/>
              <a:t>drugim</a:t>
            </a:r>
            <a:r>
              <a:rPr lang="en-US" dirty="0"/>
              <a:t> </a:t>
            </a:r>
            <a:r>
              <a:rPr lang="en-US" dirty="0" err="1"/>
              <a:t>bibliotekama</a:t>
            </a:r>
            <a:r>
              <a:rPr lang="en-US" dirty="0"/>
              <a:t>, </a:t>
            </a:r>
            <a:r>
              <a:rPr lang="en-US" dirty="0" err="1"/>
              <a:t>poput</a:t>
            </a:r>
            <a:r>
              <a:rPr lang="en-US" dirty="0"/>
              <a:t> TensorFlow.NET,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TorchSharp</a:t>
            </a:r>
            <a:r>
              <a:rPr lang="en-US" dirty="0"/>
              <a:t> se </a:t>
            </a:r>
            <a:r>
              <a:rPr lang="en-US" dirty="0" err="1"/>
              <a:t>pokazao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najbolja</a:t>
            </a:r>
            <a:r>
              <a:rPr lang="en-US" dirty="0"/>
              <a:t> </a:t>
            </a:r>
            <a:r>
              <a:rPr lang="en-US" dirty="0" err="1"/>
              <a:t>opcija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implementaciju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, </a:t>
            </a:r>
            <a:r>
              <a:rPr lang="en-US" dirty="0" err="1"/>
              <a:t>vrlo</a:t>
            </a:r>
            <a:r>
              <a:rPr lang="en-US" dirty="0"/>
              <a:t> </a:t>
            </a:r>
            <a:r>
              <a:rPr lang="en-US" dirty="0" err="1"/>
              <a:t>slično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PyTorch</a:t>
            </a:r>
            <a:r>
              <a:rPr lang="en-US" dirty="0"/>
              <a:t>.</a:t>
            </a:r>
          </a:p>
          <a:p>
            <a:r>
              <a:rPr lang="en-US" dirty="0"/>
              <a:t>Da li </a:t>
            </a:r>
            <a:r>
              <a:rPr lang="en-US" dirty="0" err="1"/>
              <a:t>postoje</a:t>
            </a:r>
            <a:r>
              <a:rPr lang="en-US" dirty="0"/>
              <a:t> wrapper za </a:t>
            </a:r>
            <a:r>
              <a:rPr lang="en-US" dirty="0" err="1"/>
              <a:t>LibTorch</a:t>
            </a:r>
            <a:r>
              <a:rPr lang="en-US" dirty="0"/>
              <a:t> u </a:t>
            </a:r>
            <a:r>
              <a:rPr lang="en-US" dirty="0" err="1"/>
              <a:t>drugim</a:t>
            </a:r>
            <a:r>
              <a:rPr lang="en-US" dirty="0"/>
              <a:t> </a:t>
            </a:r>
            <a:r>
              <a:rPr lang="en-US" dirty="0" err="1"/>
              <a:t>jezicima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pl-PL" b="0" dirty="0"/>
              <a:t>Postoje li omotači za LibTorch u drugim jezicima?</a:t>
            </a:r>
            <a:br>
              <a:rPr lang="en-US" dirty="0"/>
            </a:br>
            <a:r>
              <a:rPr lang="en-US" dirty="0"/>
              <a:t>Da, </a:t>
            </a:r>
            <a:r>
              <a:rPr lang="en-US" dirty="0" err="1"/>
              <a:t>postoje</a:t>
            </a:r>
            <a:r>
              <a:rPr lang="en-US" dirty="0"/>
              <a:t> — u </a:t>
            </a:r>
            <a:r>
              <a:rPr lang="en-US" dirty="0" err="1"/>
              <a:t>Javi</a:t>
            </a:r>
            <a:r>
              <a:rPr lang="en-US" dirty="0"/>
              <a:t>, </a:t>
            </a:r>
            <a:r>
              <a:rPr lang="en-US" dirty="0" err="1"/>
              <a:t>Rustu</a:t>
            </a:r>
            <a:r>
              <a:rPr lang="en-US" dirty="0"/>
              <a:t> (tch-</a:t>
            </a:r>
            <a:r>
              <a:rPr lang="en-US" dirty="0" err="1"/>
              <a:t>rs</a:t>
            </a:r>
            <a:r>
              <a:rPr lang="en-US" dirty="0"/>
              <a:t>), </a:t>
            </a:r>
            <a:r>
              <a:rPr lang="en-US" dirty="0" err="1"/>
              <a:t>JavaScriptu</a:t>
            </a:r>
            <a:r>
              <a:rPr lang="en-US" dirty="0"/>
              <a:t>. </a:t>
            </a:r>
            <a:r>
              <a:rPr lang="en-US" dirty="0" err="1"/>
              <a:t>Kako</a:t>
            </a:r>
            <a:r>
              <a:rPr lang="en-US" dirty="0"/>
              <a:t> je </a:t>
            </a:r>
            <a:r>
              <a:rPr lang="en-US" dirty="0" err="1"/>
              <a:t>pozadinska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ista</a:t>
            </a:r>
            <a:r>
              <a:rPr lang="en-US" dirty="0"/>
              <a:t>, </a:t>
            </a:r>
            <a:r>
              <a:rPr lang="en-US" dirty="0" err="1"/>
              <a:t>omotač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napisan</a:t>
            </a:r>
            <a:r>
              <a:rPr lang="en-US" dirty="0"/>
              <a:t> u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kojem</a:t>
            </a:r>
            <a:r>
              <a:rPr lang="en-US" dirty="0"/>
              <a:t> </a:t>
            </a:r>
            <a:r>
              <a:rPr lang="en-US" dirty="0" err="1"/>
              <a:t>programskom</a:t>
            </a:r>
            <a:r>
              <a:rPr lang="en-US" dirty="0"/>
              <a:t> </a:t>
            </a:r>
            <a:r>
              <a:rPr lang="en-US" dirty="0" err="1"/>
              <a:t>jeziku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77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b="1" dirty="0" err="1"/>
              <a:t>Kako</a:t>
            </a:r>
            <a:r>
              <a:rPr lang="en-US" b="1" dirty="0"/>
              <a:t> je </a:t>
            </a:r>
            <a:r>
              <a:rPr lang="en-US" b="1" dirty="0" err="1"/>
              <a:t>izdvojeno</a:t>
            </a:r>
            <a:r>
              <a:rPr lang="en-US" b="1" dirty="0"/>
              <a:t> </a:t>
            </a:r>
            <a:r>
              <a:rPr lang="en-US" b="1" dirty="0" err="1"/>
              <a:t>tih</a:t>
            </a:r>
            <a:r>
              <a:rPr lang="en-US" b="1" dirty="0"/>
              <a:t> 1097  </a:t>
            </a:r>
            <a:r>
              <a:rPr lang="en-US" b="1" dirty="0" err="1"/>
              <a:t>slika</a:t>
            </a:r>
            <a:r>
              <a:rPr lang="en-US" b="1" dirty="0"/>
              <a:t>?</a:t>
            </a:r>
            <a:br>
              <a:rPr lang="en-US" dirty="0"/>
            </a:b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slučaj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pacijenta</a:t>
            </a:r>
            <a:r>
              <a:rPr lang="en-US" dirty="0"/>
              <a:t>, a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snimak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 </a:t>
            </a:r>
            <a:r>
              <a:rPr lang="en-US" dirty="0" err="1"/>
              <a:t>grudnog</a:t>
            </a:r>
            <a:r>
              <a:rPr lang="en-US" dirty="0"/>
              <a:t> </a:t>
            </a:r>
            <a:r>
              <a:rPr lang="en-US" dirty="0" err="1"/>
              <a:t>koša</a:t>
            </a:r>
            <a:r>
              <a:rPr lang="en-US" dirty="0"/>
              <a:t>. </a:t>
            </a:r>
            <a:r>
              <a:rPr lang="en-US" dirty="0" err="1"/>
              <a:t>Većina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relevantnu</a:t>
            </a:r>
            <a:r>
              <a:rPr lang="en-US" dirty="0"/>
              <a:t> </a:t>
            </a:r>
            <a:r>
              <a:rPr lang="en-US" dirty="0" err="1"/>
              <a:t>informaciju</a:t>
            </a:r>
            <a:r>
              <a:rPr lang="en-US" dirty="0"/>
              <a:t>, pa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autori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 </a:t>
            </a:r>
            <a:r>
              <a:rPr lang="en-US" dirty="0" err="1"/>
              <a:t>izdvojili</a:t>
            </a:r>
            <a:r>
              <a:rPr lang="en-US" dirty="0"/>
              <a:t> one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nalaz</a:t>
            </a:r>
            <a:r>
              <a:rPr lang="en-US" dirty="0"/>
              <a:t> </a:t>
            </a:r>
            <a:r>
              <a:rPr lang="en-US" dirty="0" err="1"/>
              <a:t>vidljiv</a:t>
            </a:r>
            <a:r>
              <a:rPr lang="en-US" dirty="0"/>
              <a:t>. </a:t>
            </a:r>
            <a:r>
              <a:rPr lang="en-US" dirty="0" err="1"/>
              <a:t>Selekciju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, </a:t>
            </a:r>
            <a:r>
              <a:rPr lang="en-US" dirty="0" err="1"/>
              <a:t>dakle</a:t>
            </a:r>
            <a:r>
              <a:rPr lang="en-US" dirty="0"/>
              <a:t>, </a:t>
            </a:r>
            <a:r>
              <a:rPr lang="en-US" dirty="0" err="1"/>
              <a:t>izvršili</a:t>
            </a:r>
            <a:r>
              <a:rPr lang="en-US" dirty="0"/>
              <a:t> </a:t>
            </a:r>
            <a:r>
              <a:rPr lang="en-US" dirty="0" err="1"/>
              <a:t>autori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, ne ja.</a:t>
            </a:r>
          </a:p>
          <a:p>
            <a:pPr rtl="0"/>
            <a:endParaRPr lang="en-US" b="1" dirty="0"/>
          </a:p>
          <a:p>
            <a:pPr rtl="0"/>
            <a:r>
              <a:rPr lang="en-US" b="1" dirty="0" err="1"/>
              <a:t>Zašto</a:t>
            </a:r>
            <a:r>
              <a:rPr lang="en-US" b="1" dirty="0"/>
              <a:t> </a:t>
            </a:r>
            <a:r>
              <a:rPr lang="en-US" b="1" dirty="0" err="1"/>
              <a:t>baš</a:t>
            </a:r>
            <a:r>
              <a:rPr lang="en-US" b="1" dirty="0"/>
              <a:t> </a:t>
            </a:r>
            <a:r>
              <a:rPr lang="en-US" b="1" dirty="0" err="1"/>
              <a:t>ovaj</a:t>
            </a:r>
            <a:r>
              <a:rPr lang="en-US" b="1" dirty="0"/>
              <a:t> </a:t>
            </a:r>
            <a:r>
              <a:rPr lang="en-US" b="1" dirty="0" err="1"/>
              <a:t>skup</a:t>
            </a:r>
            <a:r>
              <a:rPr lang="en-US" b="1" dirty="0"/>
              <a:t> </a:t>
            </a:r>
            <a:r>
              <a:rPr lang="en-US" b="1" dirty="0" err="1"/>
              <a:t>podataka</a:t>
            </a:r>
            <a:r>
              <a:rPr lang="en-US" b="1" dirty="0"/>
              <a:t>?</a:t>
            </a:r>
            <a:br>
              <a:rPr lang="en-US" dirty="0"/>
            </a:br>
            <a:r>
              <a:rPr lang="en-US" dirty="0"/>
              <a:t>Kaggle </a:t>
            </a:r>
            <a:r>
              <a:rPr lang="en-US" dirty="0" err="1"/>
              <a:t>nudi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skupova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 </a:t>
            </a:r>
            <a:r>
              <a:rPr lang="en-US" dirty="0" err="1"/>
              <a:t>Ovaj</a:t>
            </a:r>
            <a:r>
              <a:rPr lang="en-US" dirty="0"/>
              <a:t> je </a:t>
            </a:r>
            <a:r>
              <a:rPr lang="en-US" dirty="0" err="1"/>
              <a:t>odabran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mnogo</a:t>
            </a:r>
            <a:r>
              <a:rPr lang="en-US" dirty="0"/>
              <a:t> </a:t>
            </a:r>
            <a:r>
              <a:rPr lang="en-US" dirty="0" err="1"/>
              <a:t>objavljenih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 CNN </a:t>
            </a:r>
            <a:r>
              <a:rPr lang="en-US" dirty="0" err="1"/>
              <a:t>mreža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njim</a:t>
            </a:r>
            <a:r>
              <a:rPr lang="en-US" dirty="0"/>
              <a:t>, pa je </a:t>
            </a:r>
            <a:r>
              <a:rPr lang="en-US" dirty="0" err="1"/>
              <a:t>mogao</a:t>
            </a:r>
            <a:r>
              <a:rPr lang="en-US" dirty="0"/>
              <a:t> </a:t>
            </a:r>
            <a:r>
              <a:rPr lang="en-US" dirty="0" err="1"/>
              <a:t>poslužiti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provjera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moji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u </a:t>
            </a:r>
            <a:r>
              <a:rPr lang="en-US" dirty="0" err="1"/>
              <a:t>očekivanom</a:t>
            </a:r>
            <a:r>
              <a:rPr lang="en-US" dirty="0"/>
              <a:t> </a:t>
            </a:r>
            <a:r>
              <a:rPr lang="en-US" dirty="0" err="1"/>
              <a:t>rasponu</a:t>
            </a:r>
            <a:r>
              <a:rPr lang="en-US" dirty="0"/>
              <a:t>.</a:t>
            </a:r>
          </a:p>
          <a:p>
            <a:pPr rtl="0"/>
            <a:endParaRPr lang="en-US" dirty="0"/>
          </a:p>
          <a:p>
            <a:pPr rtl="0"/>
            <a:r>
              <a:rPr lang="en-US" b="1" dirty="0"/>
              <a:t>Koliko </a:t>
            </a:r>
            <a:r>
              <a:rPr lang="en-US" b="1" dirty="0" err="1"/>
              <a:t>ima</a:t>
            </a:r>
            <a:r>
              <a:rPr lang="en-US" b="1" dirty="0"/>
              <a:t> </a:t>
            </a:r>
            <a:r>
              <a:rPr lang="en-US" b="1" dirty="0" err="1"/>
              <a:t>slika</a:t>
            </a:r>
            <a:r>
              <a:rPr lang="en-US" b="1" dirty="0"/>
              <a:t> po </a:t>
            </a:r>
            <a:r>
              <a:rPr lang="en-US" b="1" dirty="0" err="1"/>
              <a:t>klasi</a:t>
            </a:r>
            <a:r>
              <a:rPr lang="en-US" b="1" dirty="0"/>
              <a:t>?</a:t>
            </a:r>
          </a:p>
          <a:p>
            <a:pPr rtl="0"/>
            <a:r>
              <a:rPr lang="en-US" dirty="0" err="1"/>
              <a:t>Imamo</a:t>
            </a:r>
            <a:r>
              <a:rPr lang="en-US" dirty="0"/>
              <a:t>:</a:t>
            </a:r>
          </a:p>
          <a:p>
            <a:pPr rtl="0"/>
            <a:r>
              <a:rPr lang="en-US" dirty="0" err="1"/>
              <a:t>Maligno</a:t>
            </a:r>
            <a:r>
              <a:rPr lang="en-US" dirty="0"/>
              <a:t>: 561 </a:t>
            </a:r>
            <a:r>
              <a:rPr lang="en-US" dirty="0" err="1"/>
              <a:t>slika</a:t>
            </a:r>
            <a:endParaRPr lang="en-US" dirty="0"/>
          </a:p>
          <a:p>
            <a:pPr rtl="0"/>
            <a:r>
              <a:rPr lang="en-US" dirty="0" err="1"/>
              <a:t>Benigno</a:t>
            </a:r>
            <a:r>
              <a:rPr lang="en-US" dirty="0"/>
              <a:t>: 120 </a:t>
            </a:r>
            <a:r>
              <a:rPr lang="en-US" dirty="0" err="1"/>
              <a:t>slika</a:t>
            </a:r>
            <a:endParaRPr lang="en-US" dirty="0"/>
          </a:p>
          <a:p>
            <a:pPr rtl="0"/>
            <a:r>
              <a:rPr lang="en-US" dirty="0" err="1"/>
              <a:t>Normalno</a:t>
            </a:r>
            <a:r>
              <a:rPr lang="en-US" dirty="0"/>
              <a:t>: 416 </a:t>
            </a:r>
            <a:r>
              <a:rPr lang="en-US" dirty="0" err="1"/>
              <a:t>slika</a:t>
            </a:r>
            <a:endParaRPr lang="en-US" dirty="0"/>
          </a:p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18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skalirane</a:t>
            </a:r>
            <a:r>
              <a:rPr lang="en-US" dirty="0"/>
              <a:t> </a:t>
            </a:r>
            <a:r>
              <a:rPr lang="en-US" dirty="0" err="1"/>
              <a:t>dimenzije</a:t>
            </a:r>
            <a:r>
              <a:rPr lang="en-US" dirty="0"/>
              <a:t> </a:t>
            </a:r>
            <a:r>
              <a:rPr lang="en-US" dirty="0" err="1"/>
              <a:t>baš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256x256?</a:t>
            </a:r>
          </a:p>
          <a:p>
            <a:r>
              <a:rPr lang="en-US" dirty="0" err="1"/>
              <a:t>Skaliranje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512x512 </a:t>
            </a:r>
            <a:r>
              <a:rPr lang="en-US" dirty="0" err="1"/>
              <a:t>na</a:t>
            </a:r>
            <a:r>
              <a:rPr lang="en-US" dirty="0"/>
              <a:t> 256x256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razloga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ciljeva</a:t>
            </a:r>
            <a:r>
              <a:rPr lang="en-US" dirty="0"/>
              <a:t>. </a:t>
            </a:r>
            <a:r>
              <a:rPr lang="en-US" dirty="0" err="1"/>
              <a:t>Prvi</a:t>
            </a:r>
            <a:r>
              <a:rPr lang="en-US" dirty="0"/>
              <a:t> </a:t>
            </a:r>
            <a:r>
              <a:rPr lang="en-US" dirty="0" err="1"/>
              <a:t>razlog</a:t>
            </a:r>
            <a:r>
              <a:rPr lang="en-US" dirty="0"/>
              <a:t> je </a:t>
            </a:r>
            <a:r>
              <a:rPr lang="en-US" dirty="0" err="1"/>
              <a:t>smanjujemo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parametera</a:t>
            </a:r>
            <a:r>
              <a:rPr lang="en-US" dirty="0"/>
              <a:t> same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. </a:t>
            </a:r>
            <a:r>
              <a:rPr lang="en-US" dirty="0" err="1"/>
              <a:t>Samim</a:t>
            </a:r>
            <a:r>
              <a:rPr lang="en-US" dirty="0"/>
              <a:t> time </a:t>
            </a:r>
            <a:r>
              <a:rPr lang="en-US" dirty="0" err="1"/>
              <a:t>ubrzavamo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Također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ovaj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osiguravamo</a:t>
            </a:r>
            <a:r>
              <a:rPr lang="en-US" dirty="0"/>
              <a:t> da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uniformni</a:t>
            </a:r>
            <a:r>
              <a:rPr lang="en-US" dirty="0"/>
              <a:t> </a:t>
            </a:r>
            <a:r>
              <a:rPr lang="en-US" dirty="0" err="1"/>
              <a:t>odnosno</a:t>
            </a:r>
            <a:r>
              <a:rPr lang="en-US" dirty="0"/>
              <a:t> da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svi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istih</a:t>
            </a:r>
            <a:r>
              <a:rPr lang="en-US" dirty="0"/>
              <a:t> </a:t>
            </a:r>
            <a:r>
              <a:rPr lang="en-US" dirty="0" err="1"/>
              <a:t>dimenzija</a:t>
            </a:r>
            <a:r>
              <a:rPr lang="en-US" dirty="0"/>
              <a:t>. 256 je </a:t>
            </a:r>
            <a:r>
              <a:rPr lang="en-US" dirty="0" err="1"/>
              <a:t>jednostavno</a:t>
            </a:r>
            <a:r>
              <a:rPr lang="en-US" dirty="0"/>
              <a:t> </a:t>
            </a:r>
            <a:r>
              <a:rPr lang="en-US" dirty="0" err="1"/>
              <a:t>standardna</a:t>
            </a:r>
            <a:r>
              <a:rPr lang="en-US" dirty="0"/>
              <a:t> </a:t>
            </a:r>
            <a:r>
              <a:rPr lang="en-US" dirty="0" err="1"/>
              <a:t>dimenzija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za </a:t>
            </a:r>
            <a:r>
              <a:rPr lang="en-US" dirty="0" err="1"/>
              <a:t>većinu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da </a:t>
            </a:r>
            <a:r>
              <a:rPr lang="en-US" dirty="0" err="1"/>
              <a:t>slike</a:t>
            </a:r>
            <a:r>
              <a:rPr lang="en-US" dirty="0"/>
              <a:t> ne </a:t>
            </a:r>
            <a:r>
              <a:rPr lang="en-US" dirty="0" err="1"/>
              <a:t>izgubi</a:t>
            </a:r>
            <a:r>
              <a:rPr lang="en-US" dirty="0"/>
              <a:t> </a:t>
            </a:r>
            <a:r>
              <a:rPr lang="en-US" dirty="0" err="1"/>
              <a:t>glave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da </a:t>
            </a:r>
            <a:r>
              <a:rPr lang="en-US" dirty="0" err="1"/>
              <a:t>uštedimo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parametrima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kovertujemo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 u </a:t>
            </a:r>
            <a:r>
              <a:rPr lang="en-US" dirty="0" err="1"/>
              <a:t>crno</a:t>
            </a:r>
            <a:r>
              <a:rPr lang="en-US" dirty="0"/>
              <a:t> </a:t>
            </a:r>
            <a:r>
              <a:rPr lang="en-US" dirty="0" err="1"/>
              <a:t>bjelo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zar</a:t>
            </a:r>
            <a:r>
              <a:rPr lang="en-US" dirty="0"/>
              <a:t> </a:t>
            </a:r>
            <a:r>
              <a:rPr lang="en-US" dirty="0" err="1"/>
              <a:t>nećemo</a:t>
            </a:r>
            <a:r>
              <a:rPr lang="en-US" dirty="0"/>
              <a:t> time </a:t>
            </a:r>
            <a:r>
              <a:rPr lang="en-US" dirty="0" err="1"/>
              <a:t>izgubiti</a:t>
            </a:r>
            <a:r>
              <a:rPr lang="en-US" dirty="0"/>
              <a:t> </a:t>
            </a:r>
            <a:r>
              <a:rPr lang="en-US" dirty="0" err="1"/>
              <a:t>detalje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Dataset koji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dobili</a:t>
            </a:r>
            <a:r>
              <a:rPr lang="en-US" dirty="0"/>
              <a:t> je u tri </a:t>
            </a:r>
            <a:r>
              <a:rPr lang="en-US" dirty="0" err="1"/>
              <a:t>kanala</a:t>
            </a:r>
            <a:r>
              <a:rPr lang="en-US" dirty="0"/>
              <a:t> </a:t>
            </a:r>
            <a:r>
              <a:rPr lang="en-US" dirty="0" err="1"/>
              <a:t>odnosno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piksel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tri </a:t>
            </a:r>
            <a:r>
              <a:rPr lang="en-US" dirty="0" err="1"/>
              <a:t>vrijednost</a:t>
            </a:r>
            <a:r>
              <a:rPr lang="en-US" dirty="0"/>
              <a:t> za </a:t>
            </a:r>
            <a:r>
              <a:rPr lang="en-US" dirty="0" err="1"/>
              <a:t>crvenu</a:t>
            </a:r>
            <a:r>
              <a:rPr lang="en-US" dirty="0"/>
              <a:t>, </a:t>
            </a:r>
            <a:r>
              <a:rPr lang="en-US" dirty="0" err="1"/>
              <a:t>zelenu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plavu</a:t>
            </a:r>
            <a:r>
              <a:rPr lang="en-US" dirty="0"/>
              <a:t>. Za </a:t>
            </a:r>
            <a:r>
              <a:rPr lang="en-US" dirty="0" err="1"/>
              <a:t>naš</a:t>
            </a:r>
            <a:r>
              <a:rPr lang="en-US" dirty="0"/>
              <a:t> </a:t>
            </a:r>
            <a:r>
              <a:rPr lang="en-US" dirty="0" err="1"/>
              <a:t>specifičan</a:t>
            </a:r>
            <a:r>
              <a:rPr lang="en-US" dirty="0"/>
              <a:t> problem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boja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toliko</a:t>
            </a:r>
            <a:r>
              <a:rPr lang="en-US" dirty="0"/>
              <a:t> </a:t>
            </a:r>
            <a:r>
              <a:rPr lang="en-US" dirty="0" err="1"/>
              <a:t>bitna</a:t>
            </a:r>
            <a:r>
              <a:rPr lang="en-US" dirty="0"/>
              <a:t>. CT </a:t>
            </a:r>
            <a:r>
              <a:rPr lang="en-US" dirty="0" err="1"/>
              <a:t>snimici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veoma</a:t>
            </a:r>
            <a:r>
              <a:rPr lang="en-US" dirty="0"/>
              <a:t> </a:t>
            </a:r>
            <a:r>
              <a:rPr lang="en-US" dirty="0" err="1"/>
              <a:t>blizu</a:t>
            </a:r>
            <a:r>
              <a:rPr lang="en-US" dirty="0"/>
              <a:t> </a:t>
            </a:r>
            <a:r>
              <a:rPr lang="en-US" dirty="0" err="1"/>
              <a:t>crno</a:t>
            </a:r>
            <a:r>
              <a:rPr lang="en-US" dirty="0"/>
              <a:t> </a:t>
            </a:r>
            <a:r>
              <a:rPr lang="en-US" dirty="0" err="1"/>
              <a:t>bijeli</a:t>
            </a:r>
            <a:r>
              <a:rPr lang="en-US" dirty="0"/>
              <a:t>,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karcinom</a:t>
            </a:r>
            <a:r>
              <a:rPr lang="en-US" dirty="0"/>
              <a:t> </a:t>
            </a:r>
            <a:r>
              <a:rPr lang="en-US" dirty="0" err="1"/>
              <a:t>karakteriše</a:t>
            </a:r>
            <a:r>
              <a:rPr lang="en-US" dirty="0"/>
              <a:t> </a:t>
            </a:r>
            <a:r>
              <a:rPr lang="en-US" dirty="0" err="1"/>
              <a:t>njegov</a:t>
            </a:r>
            <a:r>
              <a:rPr lang="en-US" dirty="0"/>
              <a:t> </a:t>
            </a:r>
            <a:r>
              <a:rPr lang="en-US" dirty="0" err="1"/>
              <a:t>oblik</a:t>
            </a:r>
            <a:r>
              <a:rPr lang="en-US" dirty="0"/>
              <a:t>, </a:t>
            </a:r>
            <a:r>
              <a:rPr lang="en-US" dirty="0" err="1"/>
              <a:t>tekstura</a:t>
            </a:r>
            <a:r>
              <a:rPr lang="en-US" dirty="0"/>
              <a:t> a ne </a:t>
            </a:r>
            <a:r>
              <a:rPr lang="en-US" dirty="0" err="1"/>
              <a:t>boja</a:t>
            </a:r>
            <a:r>
              <a:rPr lang="en-US" dirty="0"/>
              <a:t>.</a:t>
            </a:r>
          </a:p>
          <a:p>
            <a:r>
              <a:rPr lang="en-US" dirty="0" err="1"/>
              <a:t>Konvertovanjem</a:t>
            </a:r>
            <a:r>
              <a:rPr lang="en-US" dirty="0"/>
              <a:t> u </a:t>
            </a:r>
            <a:r>
              <a:rPr lang="en-US" dirty="0" err="1"/>
              <a:t>crno</a:t>
            </a:r>
            <a:r>
              <a:rPr lang="en-US" dirty="0"/>
              <a:t> </a:t>
            </a:r>
            <a:r>
              <a:rPr lang="en-US" dirty="0" err="1"/>
              <a:t>bjelo</a:t>
            </a:r>
            <a:r>
              <a:rPr lang="en-US" dirty="0"/>
              <a:t> </a:t>
            </a:r>
            <a:r>
              <a:rPr lang="en-US" dirty="0" err="1"/>
              <a:t>znatno</a:t>
            </a:r>
            <a:r>
              <a:rPr lang="en-US" dirty="0"/>
              <a:t> </a:t>
            </a:r>
            <a:r>
              <a:rPr lang="en-US" dirty="0" err="1"/>
              <a:t>smanjujemo</a:t>
            </a:r>
            <a:r>
              <a:rPr lang="en-US" dirty="0"/>
              <a:t> </a:t>
            </a:r>
            <a:r>
              <a:rPr lang="en-US" dirty="0" err="1"/>
              <a:t>veličinu</a:t>
            </a:r>
            <a:r>
              <a:rPr lang="en-US" dirty="0"/>
              <a:t> 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ponovo</a:t>
            </a:r>
            <a:r>
              <a:rPr lang="en-US" dirty="0"/>
              <a:t> </a:t>
            </a:r>
            <a:r>
              <a:rPr lang="en-US" dirty="0" err="1"/>
              <a:t>štedimo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resursima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ubrzavamo</a:t>
            </a:r>
            <a:r>
              <a:rPr lang="en-US" dirty="0"/>
              <a:t> </a:t>
            </a:r>
            <a:r>
              <a:rPr lang="en-US" dirty="0" err="1"/>
              <a:t>treniranje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Šta</a:t>
            </a:r>
            <a:r>
              <a:rPr lang="en-US" dirty="0"/>
              <a:t> je </a:t>
            </a:r>
            <a:r>
              <a:rPr lang="en-US" dirty="0" err="1"/>
              <a:t>normalizacija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 err="1"/>
              <a:t>Normalizacija</a:t>
            </a:r>
            <a:r>
              <a:rPr lang="en-US" dirty="0"/>
              <a:t> je </a:t>
            </a:r>
            <a:r>
              <a:rPr lang="en-US" dirty="0" err="1"/>
              <a:t>tehnika</a:t>
            </a:r>
            <a:r>
              <a:rPr lang="en-US" dirty="0"/>
              <a:t> u </a:t>
            </a:r>
            <a:r>
              <a:rPr lang="en-US" dirty="0" err="1"/>
              <a:t>kojoj</a:t>
            </a:r>
            <a:r>
              <a:rPr lang="en-US" dirty="0"/>
              <a:t> </a:t>
            </a:r>
            <a:r>
              <a:rPr lang="en-US" dirty="0" err="1"/>
              <a:t>vrijednosti</a:t>
            </a:r>
            <a:r>
              <a:rPr lang="en-US" dirty="0"/>
              <a:t> </a:t>
            </a:r>
            <a:r>
              <a:rPr lang="en-US" dirty="0" err="1"/>
              <a:t>slike</a:t>
            </a:r>
            <a:r>
              <a:rPr lang="en-US" dirty="0"/>
              <a:t> u </a:t>
            </a:r>
            <a:r>
              <a:rPr lang="en-US" dirty="0" err="1"/>
              <a:t>našem</a:t>
            </a:r>
            <a:r>
              <a:rPr lang="en-US" dirty="0"/>
              <a:t> </a:t>
            </a:r>
            <a:r>
              <a:rPr lang="en-US" dirty="0" err="1"/>
              <a:t>slučaju</a:t>
            </a:r>
            <a:r>
              <a:rPr lang="en-US" dirty="0"/>
              <a:t> od 0 do 255, </a:t>
            </a:r>
            <a:r>
              <a:rPr lang="en-US" dirty="0" err="1"/>
              <a:t>konvertujemo</a:t>
            </a:r>
            <a:r>
              <a:rPr lang="en-US" dirty="0"/>
              <a:t> u </a:t>
            </a:r>
            <a:r>
              <a:rPr lang="en-US" dirty="0" err="1"/>
              <a:t>raspon</a:t>
            </a:r>
            <a:r>
              <a:rPr lang="en-US" dirty="0"/>
              <a:t> od 0 do 1. Ovo je </a:t>
            </a:r>
            <a:r>
              <a:rPr lang="en-US" dirty="0" err="1"/>
              <a:t>standardna</a:t>
            </a:r>
            <a:r>
              <a:rPr lang="en-US" dirty="0"/>
              <a:t> </a:t>
            </a:r>
            <a:r>
              <a:rPr lang="en-US" dirty="0" err="1"/>
              <a:t>praksa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dovodi</a:t>
            </a:r>
            <a:r>
              <a:rPr lang="en-US" dirty="0"/>
              <a:t> do </a:t>
            </a:r>
            <a:r>
              <a:rPr lang="en-US" dirty="0" err="1"/>
              <a:t>brže</a:t>
            </a:r>
            <a:r>
              <a:rPr lang="en-US" dirty="0"/>
              <a:t> </a:t>
            </a:r>
            <a:r>
              <a:rPr lang="en-US" dirty="0" err="1"/>
              <a:t>konvergencije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Zašto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proširujemo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proširujemo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da za </a:t>
            </a:r>
            <a:r>
              <a:rPr lang="en-US" dirty="0" err="1"/>
              <a:t>svaku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 </a:t>
            </a:r>
            <a:r>
              <a:rPr lang="en-US" dirty="0" err="1"/>
              <a:t>kreiramo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dvije</a:t>
            </a:r>
            <a:r>
              <a:rPr lang="en-US" dirty="0"/>
              <a:t>. </a:t>
            </a:r>
            <a:r>
              <a:rPr lang="en-US" dirty="0" err="1"/>
              <a:t>Razlog</a:t>
            </a:r>
            <a:r>
              <a:rPr lang="en-US" dirty="0"/>
              <a:t> </a:t>
            </a:r>
            <a:r>
              <a:rPr lang="en-US" dirty="0" err="1"/>
              <a:t>ovom</a:t>
            </a:r>
            <a:r>
              <a:rPr lang="en-US" dirty="0"/>
              <a:t> </a:t>
            </a:r>
            <a:r>
              <a:rPr lang="en-US" dirty="0" err="1"/>
              <a:t>jeste</a:t>
            </a:r>
            <a:r>
              <a:rPr lang="en-US" dirty="0"/>
              <a:t> da je </a:t>
            </a:r>
            <a:r>
              <a:rPr lang="en-US" dirty="0" err="1"/>
              <a:t>naš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poprilično</a:t>
            </a:r>
            <a:r>
              <a:rPr lang="en-US" dirty="0"/>
              <a:t> </a:t>
            </a:r>
            <a:r>
              <a:rPr lang="en-US" dirty="0" err="1"/>
              <a:t>mali</a:t>
            </a:r>
            <a:r>
              <a:rPr lang="en-US" dirty="0"/>
              <a:t>. </a:t>
            </a:r>
            <a:r>
              <a:rPr lang="en-US" dirty="0" err="1"/>
              <a:t>Povećavanjem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primjera</a:t>
            </a:r>
            <a:r>
              <a:rPr lang="en-US" dirty="0"/>
              <a:t> </a:t>
            </a:r>
            <a:r>
              <a:rPr lang="en-US" dirty="0" err="1"/>
              <a:t>pokušavamo</a:t>
            </a:r>
            <a:r>
              <a:rPr lang="en-US" dirty="0"/>
              <a:t> da </a:t>
            </a:r>
            <a:r>
              <a:rPr lang="en-US" dirty="0" err="1"/>
              <a:t>navedemo</a:t>
            </a:r>
            <a:r>
              <a:rPr lang="en-US" dirty="0"/>
              <a:t> model da </a:t>
            </a:r>
            <a:r>
              <a:rPr lang="en-US" dirty="0" err="1"/>
              <a:t>bolje</a:t>
            </a:r>
            <a:r>
              <a:rPr lang="en-US" dirty="0"/>
              <a:t> generalize problem. </a:t>
            </a:r>
          </a:p>
          <a:p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svaku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 </a:t>
            </a:r>
            <a:r>
              <a:rPr lang="en-US" dirty="0" err="1"/>
              <a:t>preslikamo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horizontalno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vertiklano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Na koji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se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augmentacija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 err="1"/>
              <a:t>Augmentacija</a:t>
            </a:r>
            <a:r>
              <a:rPr lang="en-US" dirty="0"/>
              <a:t> se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trening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 Ova </a:t>
            </a:r>
            <a:r>
              <a:rPr lang="en-US" dirty="0" err="1"/>
              <a:t>tehnika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služi</a:t>
            </a:r>
            <a:r>
              <a:rPr lang="en-US" dirty="0"/>
              <a:t> da </a:t>
            </a:r>
            <a:r>
              <a:rPr lang="en-US" dirty="0" err="1"/>
              <a:t>bolje</a:t>
            </a:r>
            <a:r>
              <a:rPr lang="en-US" dirty="0"/>
              <a:t> model </a:t>
            </a:r>
            <a:r>
              <a:rPr lang="en-US" dirty="0" err="1"/>
              <a:t>generalizira</a:t>
            </a:r>
            <a:r>
              <a:rPr lang="en-US" dirty="0"/>
              <a:t> problem. Sam </a:t>
            </a:r>
            <a:r>
              <a:rPr lang="en-US" dirty="0" err="1"/>
              <a:t>validacijski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bi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trebao</a:t>
            </a:r>
            <a:r>
              <a:rPr lang="en-US" dirty="0"/>
              <a:t> </a:t>
            </a:r>
            <a:r>
              <a:rPr lang="en-US" dirty="0" err="1"/>
              <a:t>reći</a:t>
            </a:r>
            <a:r>
              <a:rPr lang="en-US" dirty="0"/>
              <a:t> da li je model </a:t>
            </a:r>
            <a:r>
              <a:rPr lang="en-US" dirty="0" err="1"/>
              <a:t>uspio</a:t>
            </a:r>
            <a:r>
              <a:rPr lang="en-US" dirty="0"/>
              <a:t> </a:t>
            </a:r>
            <a:r>
              <a:rPr lang="en-US" dirty="0" err="1"/>
              <a:t>generalizirati</a:t>
            </a:r>
            <a:r>
              <a:rPr lang="en-US" dirty="0"/>
              <a:t> a ne da li model </a:t>
            </a:r>
            <a:r>
              <a:rPr lang="en-US" dirty="0" err="1"/>
              <a:t>uspješno</a:t>
            </a:r>
            <a:r>
              <a:rPr lang="en-US" dirty="0"/>
              <a:t> </a:t>
            </a:r>
            <a:r>
              <a:rPr lang="en-US" dirty="0" err="1"/>
              <a:t>prepozna</a:t>
            </a:r>
            <a:r>
              <a:rPr lang="en-US" dirty="0"/>
              <a:t> </a:t>
            </a:r>
            <a:r>
              <a:rPr lang="en-US" dirty="0" err="1"/>
              <a:t>preslikanu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82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Zašto</a:t>
            </a:r>
            <a:r>
              <a:rPr lang="en-US" dirty="0"/>
              <a:t> </a:t>
            </a:r>
            <a:r>
              <a:rPr lang="en-US" dirty="0" err="1"/>
              <a:t>radimo</a:t>
            </a:r>
            <a:r>
              <a:rPr lang="en-US" dirty="0"/>
              <a:t> </a:t>
            </a:r>
            <a:r>
              <a:rPr lang="en-US" dirty="0" err="1"/>
              <a:t>baš</a:t>
            </a:r>
            <a:r>
              <a:rPr lang="en-US" dirty="0"/>
              <a:t> split 75% 25%?</a:t>
            </a:r>
          </a:p>
          <a:p>
            <a:r>
              <a:rPr lang="en-US" dirty="0"/>
              <a:t>Ova </a:t>
            </a:r>
            <a:r>
              <a:rPr lang="en-US" dirty="0" err="1"/>
              <a:t>podjela</a:t>
            </a:r>
            <a:r>
              <a:rPr lang="en-US" dirty="0"/>
              <a:t> je </a:t>
            </a:r>
            <a:r>
              <a:rPr lang="en-US" dirty="0" err="1"/>
              <a:t>odabrana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u </a:t>
            </a:r>
            <a:r>
              <a:rPr lang="en-US" dirty="0" err="1"/>
              <a:t>rasponu</a:t>
            </a:r>
            <a:r>
              <a:rPr lang="en-US" dirty="0"/>
              <a:t> </a:t>
            </a:r>
            <a:r>
              <a:rPr lang="en-US" dirty="0" err="1"/>
              <a:t>stadardnih</a:t>
            </a:r>
            <a:r>
              <a:rPr lang="en-US" dirty="0"/>
              <a:t> </a:t>
            </a:r>
            <a:r>
              <a:rPr lang="en-US" dirty="0" err="1"/>
              <a:t>raspodjela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koriste</a:t>
            </a:r>
            <a:r>
              <a:rPr lang="en-US" dirty="0"/>
              <a:t> u </a:t>
            </a:r>
            <a:r>
              <a:rPr lang="en-US" dirty="0" err="1"/>
              <a:t>praksi</a:t>
            </a:r>
            <a:r>
              <a:rPr lang="en-US" dirty="0"/>
              <a:t>. </a:t>
            </a:r>
            <a:r>
              <a:rPr lang="en-US" dirty="0" err="1"/>
              <a:t>Obično</a:t>
            </a:r>
            <a:r>
              <a:rPr lang="en-US" dirty="0"/>
              <a:t> se </a:t>
            </a:r>
            <a:r>
              <a:rPr lang="en-US" dirty="0" err="1"/>
              <a:t>koriste</a:t>
            </a:r>
            <a:r>
              <a:rPr lang="en-US" dirty="0"/>
              <a:t> </a:t>
            </a:r>
            <a:r>
              <a:rPr lang="en-US" dirty="0" err="1"/>
              <a:t>raspodjele</a:t>
            </a:r>
            <a:r>
              <a:rPr lang="en-US" dirty="0"/>
              <a:t> od 70/30, 80/20.</a:t>
            </a:r>
          </a:p>
          <a:p>
            <a:endParaRPr lang="en-US" dirty="0"/>
          </a:p>
          <a:p>
            <a:r>
              <a:rPr lang="en-US" dirty="0"/>
              <a:t>Da li </a:t>
            </a:r>
            <a:r>
              <a:rPr lang="en-US" dirty="0" err="1"/>
              <a:t>radimo</a:t>
            </a:r>
            <a:r>
              <a:rPr lang="en-US" dirty="0"/>
              <a:t> </a:t>
            </a:r>
            <a:r>
              <a:rPr lang="en-US" dirty="0" err="1"/>
              <a:t>preprocesiranje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augmentacija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oba</a:t>
            </a:r>
            <a:r>
              <a:rPr lang="en-US" dirty="0"/>
              <a:t> seta </a:t>
            </a:r>
            <a:r>
              <a:rPr lang="en-US" dirty="0" err="1"/>
              <a:t>podataka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 err="1"/>
              <a:t>Preprocesiranje</a:t>
            </a:r>
            <a:r>
              <a:rPr lang="en-US" dirty="0"/>
              <a:t> </a:t>
            </a:r>
            <a:r>
              <a:rPr lang="en-US" dirty="0" err="1"/>
              <a:t>ćemo</a:t>
            </a:r>
            <a:r>
              <a:rPr lang="en-US" dirty="0"/>
              <a:t> </a:t>
            </a:r>
            <a:r>
              <a:rPr lang="en-US" dirty="0" err="1"/>
              <a:t>raditi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oba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specifični</a:t>
            </a:r>
            <a:r>
              <a:rPr lang="en-US" dirty="0"/>
              <a:t> format </a:t>
            </a:r>
            <a:r>
              <a:rPr lang="en-US" dirty="0" err="1"/>
              <a:t>ulaza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onaj</a:t>
            </a:r>
            <a:r>
              <a:rPr lang="en-US" dirty="0"/>
              <a:t> format koji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dobili</a:t>
            </a:r>
            <a:r>
              <a:rPr lang="en-US" dirty="0"/>
              <a:t> </a:t>
            </a:r>
            <a:r>
              <a:rPr lang="en-US" dirty="0" err="1"/>
              <a:t>preprocesirom</a:t>
            </a:r>
            <a:endParaRPr lang="en-US" dirty="0"/>
          </a:p>
          <a:p>
            <a:r>
              <a:rPr lang="en-US" dirty="0" err="1"/>
              <a:t>Isto</a:t>
            </a:r>
            <a:r>
              <a:rPr lang="en-US" dirty="0"/>
              <a:t> </a:t>
            </a:r>
            <a:r>
              <a:rPr lang="en-US" dirty="0" err="1"/>
              <a:t>preprocesiranje</a:t>
            </a:r>
            <a:r>
              <a:rPr lang="en-US" dirty="0"/>
              <a:t> </a:t>
            </a:r>
            <a:r>
              <a:rPr lang="en-US" dirty="0" err="1"/>
              <a:t>moramo</a:t>
            </a:r>
            <a:r>
              <a:rPr lang="en-US" dirty="0"/>
              <a:t> </a:t>
            </a:r>
            <a:r>
              <a:rPr lang="en-US" dirty="0" err="1"/>
              <a:t>uraditi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validacijskom</a:t>
            </a:r>
            <a:r>
              <a:rPr lang="en-US" dirty="0"/>
              <a:t> </a:t>
            </a:r>
            <a:r>
              <a:rPr lang="en-US" dirty="0" err="1"/>
              <a:t>skupu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da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predikciju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predprocesiranja</a:t>
            </a:r>
            <a:r>
              <a:rPr lang="en-US" dirty="0"/>
              <a:t> </a:t>
            </a:r>
            <a:r>
              <a:rPr lang="en-US" dirty="0" err="1"/>
              <a:t>augmentacija</a:t>
            </a:r>
            <a:r>
              <a:rPr lang="en-US" dirty="0"/>
              <a:t>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rađena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trening</a:t>
            </a:r>
            <a:r>
              <a:rPr lang="en-US" dirty="0"/>
              <a:t> </a:t>
            </a:r>
            <a:r>
              <a:rPr lang="en-US" dirty="0" err="1"/>
              <a:t>skupu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r>
              <a:rPr lang="en-US" dirty="0"/>
              <a:t>Mi </a:t>
            </a:r>
            <a:r>
              <a:rPr lang="en-US" dirty="0" err="1"/>
              <a:t>želimo</a:t>
            </a:r>
            <a:r>
              <a:rPr lang="en-US" dirty="0"/>
              <a:t> da </a:t>
            </a:r>
            <a:r>
              <a:rPr lang="en-US" dirty="0" err="1"/>
              <a:t>napravimo</a:t>
            </a:r>
            <a:r>
              <a:rPr lang="en-US" dirty="0"/>
              <a:t> </a:t>
            </a:r>
            <a:r>
              <a:rPr lang="en-US" dirty="0" err="1"/>
              <a:t>mrežu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daje</a:t>
            </a:r>
            <a:r>
              <a:rPr lang="en-US" dirty="0"/>
              <a:t> </a:t>
            </a:r>
            <a:r>
              <a:rPr lang="en-US" dirty="0" err="1"/>
              <a:t>dobre</a:t>
            </a:r>
            <a:r>
              <a:rPr lang="en-US" dirty="0"/>
              <a:t> </a:t>
            </a:r>
            <a:r>
              <a:rPr lang="en-US" dirty="0" err="1"/>
              <a:t>predikcije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datom</a:t>
            </a:r>
            <a:r>
              <a:rPr lang="en-US" dirty="0"/>
              <a:t> </a:t>
            </a:r>
            <a:r>
              <a:rPr lang="en-US" dirty="0" err="1"/>
              <a:t>skupu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augmentaciju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koristimo</a:t>
            </a:r>
            <a:r>
              <a:rPr lang="en-US" dirty="0"/>
              <a:t> da bi </a:t>
            </a:r>
            <a:r>
              <a:rPr lang="en-US" dirty="0" err="1"/>
              <a:t>mreža</a:t>
            </a:r>
            <a:r>
              <a:rPr lang="en-US" dirty="0"/>
              <a:t> </a:t>
            </a:r>
            <a:r>
              <a:rPr lang="en-US" dirty="0" err="1"/>
              <a:t>uspjela</a:t>
            </a:r>
            <a:r>
              <a:rPr lang="en-US" dirty="0"/>
              <a:t> </a:t>
            </a:r>
            <a:r>
              <a:rPr lang="en-US" dirty="0" err="1"/>
              <a:t>bolje</a:t>
            </a:r>
            <a:r>
              <a:rPr lang="en-US" dirty="0"/>
              <a:t> </a:t>
            </a:r>
            <a:r>
              <a:rPr lang="en-US" dirty="0" err="1"/>
              <a:t>generalizirati</a:t>
            </a:r>
            <a:r>
              <a:rPr lang="en-US" dirty="0"/>
              <a:t> problem.</a:t>
            </a:r>
          </a:p>
          <a:p>
            <a:endParaRPr lang="en-US" dirty="0"/>
          </a:p>
          <a:p>
            <a:endParaRPr lang="en-US" dirty="0"/>
          </a:p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39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43B6D-3163-47C3-9DB9-B6EA961A8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62C81-D2B1-4B5E-A3B8-82BEAE4F2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02CBA-94DC-4429-A4DD-669E160C5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B2272-A89D-4DA5-B536-D3A04518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991EB3-BB83-4A04-8DA5-48AC53C32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28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595DC-4846-499A-9AE3-BD42BAC4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B019D-F32C-4F0C-91F6-5233A04EF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ABA5E-8F00-4A33-8387-2D21E48B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1E93E-323C-42B9-B9CD-9C9246453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F370D-5722-4E2F-9E79-89E6E605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FF12F-2C45-419A-A705-E1A60F14A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AE991-E608-49F4-8BD6-AFA730C6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DC662-FBCD-41BF-A8D6-5CB57FFE1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7C2BE-02A3-4D8A-99C1-5BE0E74E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53542-0F25-4070-A47F-8E6A8EC44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63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3CFD8-ACB2-46C7-9CF3-C9E9B4DA6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8796B-0D0C-4FB4-B9D1-C407ABEF9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7CE8F-556F-446F-859D-92BD1A6D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E42BC8-8C0A-4A9C-97AE-D98523FB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AF4B8-8B65-4D96-8EB4-0A2C8647B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2A9D25-2D13-46A1-9C35-2B47201B2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24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FD9D-1CF7-47DB-8130-FCCA0C41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54DF0-5840-43D0-BFEB-8BD9F9B06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273804-2CC3-4D72-A4C5-0C1FFC10A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96EB3-B331-4C74-B1DF-5BF3D2499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537DC6-D9B3-4B8F-84F0-03CDEB4A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A16214-5154-4548-8C62-75E31BC31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BEB425-358F-44A5-836D-AC35AF84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2706DA-0A0C-4869-93B7-9479174D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1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471B4-E30C-4F3F-B8A0-7DD6E6B87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2E56A3-1551-41A6-989E-5692F87E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F01AEC-C94D-43F8-97E6-12F4454C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0B8DCC-2BE3-4752-B70C-C0CE12DB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077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5200E-32B4-4F5A-B311-9DCC76FAF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961B0-5EC7-4890-A0EB-86A108AF4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0ACC5-0875-4E07-8A28-8BCF83B95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4900-188E-4DC3-96E6-99D9675B3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D825F-FDE7-484E-84B4-9966DE526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DBBEF-FC4B-4F44-A244-F0FE4564B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56A5E-EA9B-4FEB-A0FD-2386FEB3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353D0-70C5-4594-919C-F065CDE47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5FDBD-DC20-4E4F-9B5F-5F11B0146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810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6E1B3-A72F-4D2A-94CE-A678E707A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 anchorCtr="0"/>
          <a:lstStyle>
            <a:lvl1pPr algn="l"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ABE76-5ACB-4BE4-B46B-EAE595CAD8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28920-B350-44EB-A6D2-8C7917EB0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BC412-E77C-4857-BDF8-9CBA47854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13BAA-0590-4BB6-8329-3D50C158D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9DD94-A046-42E7-8478-AA879A424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454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767A2-731D-4D61-A128-DD329A62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54BE0D-35C1-4EBA-8D27-AB4F28F53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FAEA0-6188-4BCA-9936-D40496BFC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892FD-79B6-4EC3-B725-FB600946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74E9D-1A45-42A5-A923-E9748B3F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93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EA79EA-D7E8-445C-B5D5-8414B10CF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E78FAE-8400-4566-99BC-72B8451A21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B3A0-B99D-4B67-B95D-8172842FE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D1D7A-3BAC-4F4D-998C-ECBA6F9DD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BB05C-99C6-408E-927F-835B32494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506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F911E-A021-4FA1-93F6-42150D07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13C43-FC44-4A2B-86DE-BEB64887E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7145B-8B9E-4706-B6E0-73A36ED1AD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6B63C-CDDC-45F1-A941-1E23D4E8195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BC06-E26C-40A6-A181-7F27BC34D5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D9C6-D83D-4A48-8B7A-214CD1D211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7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B36-990C-47F5-9AEA-61517AE1D1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640"/>
            <a:ext cx="9144000" cy="5426719"/>
          </a:xfrm>
        </p:spPr>
        <p:txBody>
          <a:bodyPr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UNIVERZITET U TUZLI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FAKULTET ELEKTROTEHNIKE</a:t>
            </a:r>
            <a:b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s-Latn-BA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Uporedna analiza </a:t>
            </a:r>
            <a:r>
              <a:rPr lang="bs-Latn-BA" sz="4000" b="1" cap="small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Python</a:t>
            </a:r>
            <a:r>
              <a:rPr lang="bs-Latn-BA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4000" b="1" cap="small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bs-Latn-BA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.NET okruženja za treniranje modela dubokog učenja na primjeru detekcije raka pluća</a:t>
            </a: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Student: Omar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Kurtović</a:t>
            </a:r>
            <a:b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Mentor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dr.sci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Damir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Demirović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vanr.prof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Tuzla, August 2026.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godine</a:t>
            </a:r>
            <a:endParaRPr lang="en-US" sz="2000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740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E200D-B40B-4141-8899-8A3F7B472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endParaRPr lang="bs-Latn-B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5088D-41E2-4371-9A41-285E035BD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sz="2800" dirty="0"/>
              <a:t>Python </a:t>
            </a:r>
            <a:r>
              <a:rPr lang="en-US" sz="2800" dirty="0" err="1"/>
              <a:t>programski</a:t>
            </a:r>
            <a:r>
              <a:rPr lang="en-US" sz="2800" dirty="0"/>
              <a:t> </a:t>
            </a:r>
            <a:r>
              <a:rPr lang="en-US" sz="2800" dirty="0" err="1"/>
              <a:t>jezik</a:t>
            </a:r>
            <a:r>
              <a:rPr lang="en-US" sz="2800" dirty="0"/>
              <a:t> </a:t>
            </a:r>
            <a:r>
              <a:rPr lang="pl-PL" sz="2800" dirty="0"/>
              <a:t>je standard</a:t>
            </a:r>
            <a:r>
              <a:rPr lang="en-US" dirty="0"/>
              <a:t>an</a:t>
            </a:r>
            <a:r>
              <a:rPr lang="en-US" sz="2800" dirty="0"/>
              <a:t> </a:t>
            </a:r>
            <a:r>
              <a:rPr lang="en-US" sz="2800" dirty="0" err="1"/>
              <a:t>odabir</a:t>
            </a:r>
            <a:r>
              <a:rPr lang="pl-PL" sz="2800" dirty="0"/>
              <a:t> za </a:t>
            </a:r>
            <a:r>
              <a:rPr lang="en-US" sz="2800" dirty="0" err="1"/>
              <a:t>rješavanje</a:t>
            </a:r>
            <a:r>
              <a:rPr lang="en-US" sz="2800" dirty="0"/>
              <a:t> </a:t>
            </a:r>
            <a:r>
              <a:rPr lang="pl-PL" sz="2800" dirty="0"/>
              <a:t>problem</a:t>
            </a:r>
            <a:r>
              <a:rPr lang="en-US" sz="2800" dirty="0"/>
              <a:t>a</a:t>
            </a:r>
            <a:r>
              <a:rPr lang="pl-PL" sz="2800" dirty="0"/>
              <a:t> mašinskog učenja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r>
              <a:rPr lang="en-US" sz="2800" dirty="0" err="1"/>
              <a:t>Međutim</a:t>
            </a:r>
            <a:r>
              <a:rPr lang="en-US" sz="2800" dirty="0"/>
              <a:t>, </a:t>
            </a:r>
            <a:r>
              <a:rPr lang="en-US" sz="2800" dirty="0" err="1"/>
              <a:t>veliki</a:t>
            </a:r>
            <a:r>
              <a:rPr lang="en-US" sz="2800" dirty="0"/>
              <a:t>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en-US" sz="2800" dirty="0" err="1"/>
              <a:t>postojećih</a:t>
            </a:r>
            <a:r>
              <a:rPr lang="en-US" sz="2800" dirty="0"/>
              <a:t> </a:t>
            </a:r>
            <a:r>
              <a:rPr lang="en-US" sz="2800" dirty="0" err="1"/>
              <a:t>aplikacija</a:t>
            </a:r>
            <a:r>
              <a:rPr lang="en-US" sz="2800" dirty="0"/>
              <a:t> </a:t>
            </a:r>
            <a:r>
              <a:rPr lang="en-US" sz="2800" dirty="0" err="1"/>
              <a:t>gradi</a:t>
            </a:r>
            <a:r>
              <a:rPr lang="en-US" sz="2800" dirty="0"/>
              <a:t> se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drugim</a:t>
            </a:r>
            <a:r>
              <a:rPr lang="en-US" sz="2800" dirty="0"/>
              <a:t> </a:t>
            </a:r>
            <a:r>
              <a:rPr lang="en-US" sz="2800" dirty="0" err="1"/>
              <a:t>tehnologijama</a:t>
            </a:r>
            <a:r>
              <a:rPr lang="en-US" sz="2800" dirty="0"/>
              <a:t>: TypeScript/JavaScript, Java, C#/.NET, PHP.</a:t>
            </a:r>
          </a:p>
          <a:p>
            <a:pPr marL="0" indent="0">
              <a:buNone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Integracija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rješenja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date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tehnologije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donosi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kompleksnost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Pitanje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su</a:t>
            </a:r>
            <a:r>
              <a:rPr lang="en-US" sz="2800" dirty="0"/>
              <a:t> </a:t>
            </a:r>
            <a:r>
              <a:rPr lang="en-US" sz="2800" dirty="0" err="1"/>
              <a:t>prednosti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mane </a:t>
            </a:r>
            <a:r>
              <a:rPr lang="en-US" sz="2800" dirty="0" err="1"/>
              <a:t>rješavanja</a:t>
            </a:r>
            <a:r>
              <a:rPr lang="en-US" sz="2800" dirty="0"/>
              <a:t> </a:t>
            </a:r>
            <a:r>
              <a:rPr lang="en-US" sz="2800" dirty="0" err="1"/>
              <a:t>problema</a:t>
            </a:r>
            <a:r>
              <a:rPr lang="en-US" sz="2800" dirty="0"/>
              <a:t> </a:t>
            </a:r>
            <a:r>
              <a:rPr lang="en-US" sz="2800" dirty="0" err="1"/>
              <a:t>mašinskog</a:t>
            </a:r>
            <a:r>
              <a:rPr lang="en-US" sz="2800" dirty="0"/>
              <a:t> </a:t>
            </a:r>
            <a:r>
              <a:rPr lang="en-US" sz="2800" dirty="0" err="1"/>
              <a:t>učenja</a:t>
            </a:r>
            <a:r>
              <a:rPr lang="en-US" sz="2800" dirty="0"/>
              <a:t> u </a:t>
            </a:r>
            <a:r>
              <a:rPr lang="en-US" sz="2800" dirty="0" err="1"/>
              <a:t>alternativnim</a:t>
            </a:r>
            <a:r>
              <a:rPr lang="en-US" sz="2800" dirty="0"/>
              <a:t> </a:t>
            </a:r>
            <a:r>
              <a:rPr lang="en-US" sz="2800" dirty="0" err="1"/>
              <a:t>ekosistemima</a:t>
            </a:r>
            <a:r>
              <a:rPr lang="en-US" sz="2800" dirty="0"/>
              <a:t>, </a:t>
            </a:r>
            <a:r>
              <a:rPr lang="en-US" sz="2800" dirty="0" err="1"/>
              <a:t>poput</a:t>
            </a:r>
            <a:r>
              <a:rPr lang="en-US" sz="2800" dirty="0"/>
              <a:t> .NET-a?</a:t>
            </a:r>
          </a:p>
          <a:p>
            <a:endParaRPr lang="bs-Latn-BA" dirty="0"/>
          </a:p>
        </p:txBody>
      </p:sp>
    </p:spTree>
    <p:extLst>
      <p:ext uri="{BB962C8B-B14F-4D97-AF65-F5344CB8AC3E}">
        <p14:creationId xmlns:p14="http://schemas.microsoft.com/office/powerpoint/2010/main" val="1766465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EAF3E9-1FB9-408F-809A-213237D99D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899" y="433052"/>
            <a:ext cx="6172200" cy="52282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1DB0CD-AA00-45FC-8E55-D261DCF4A2B8}"/>
              </a:ext>
            </a:extLst>
          </p:cNvPr>
          <p:cNvSpPr txBox="1"/>
          <p:nvPr/>
        </p:nvSpPr>
        <p:spPr>
          <a:xfrm>
            <a:off x="3009899" y="5786389"/>
            <a:ext cx="6172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Najčešće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korištena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za AI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projekte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Octoverse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90080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4772-C9AF-47AA-AF8A-06501D9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Opis</a:t>
            </a:r>
            <a:r>
              <a:rPr lang="en-US" dirty="0"/>
              <a:t> </a:t>
            </a:r>
            <a:r>
              <a:rPr lang="en-US" dirty="0" err="1"/>
              <a:t>problema</a:t>
            </a:r>
            <a:endParaRPr lang="bs-Latn-B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551E4-EF16-4AA7-B4A4-46089C0746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Poređenje</a:t>
            </a:r>
            <a:r>
              <a:rPr lang="en-US" dirty="0"/>
              <a:t> </a:t>
            </a:r>
            <a:r>
              <a:rPr lang="en-US" dirty="0" err="1"/>
              <a:t>ekosistema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primjeru</a:t>
            </a:r>
            <a:r>
              <a:rPr lang="en-US" dirty="0"/>
              <a:t> — </a:t>
            </a:r>
            <a:r>
              <a:rPr lang="en-US" dirty="0" err="1"/>
              <a:t>detekciji</a:t>
            </a:r>
            <a:r>
              <a:rPr lang="en-US" dirty="0"/>
              <a:t> </a:t>
            </a:r>
            <a:r>
              <a:rPr lang="en-US" dirty="0" err="1"/>
              <a:t>raka</a:t>
            </a:r>
            <a:r>
              <a:rPr lang="en-US" dirty="0"/>
              <a:t> </a:t>
            </a:r>
            <a:r>
              <a:rPr lang="en-US" dirty="0" err="1"/>
              <a:t>pluća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dostupnim</a:t>
            </a:r>
            <a:r>
              <a:rPr lang="en-US" dirty="0"/>
              <a:t> </a:t>
            </a:r>
            <a:r>
              <a:rPr lang="en-US" dirty="0" err="1"/>
              <a:t>medicinskim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detekciju</a:t>
            </a:r>
            <a:r>
              <a:rPr lang="en-US" dirty="0"/>
              <a:t> je </a:t>
            </a:r>
            <a:r>
              <a:rPr lang="en-US" dirty="0" err="1"/>
              <a:t>implementirana</a:t>
            </a:r>
            <a:r>
              <a:rPr lang="en-US" dirty="0"/>
              <a:t> </a:t>
            </a:r>
            <a:r>
              <a:rPr lang="en-US" dirty="0" err="1"/>
              <a:t>konvoluciona</a:t>
            </a:r>
            <a:r>
              <a:rPr lang="en-US" dirty="0"/>
              <a:t> </a:t>
            </a:r>
            <a:r>
              <a:rPr lang="en-US" dirty="0" err="1"/>
              <a:t>neuralna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(CNN).</a:t>
            </a:r>
          </a:p>
          <a:p>
            <a:r>
              <a:rPr lang="en-US" dirty="0" err="1"/>
              <a:t>Evaluacija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standardnim</a:t>
            </a:r>
            <a:r>
              <a:rPr lang="en-US" dirty="0"/>
              <a:t> </a:t>
            </a:r>
            <a:r>
              <a:rPr lang="en-US" dirty="0" err="1"/>
              <a:t>klasifikacijskim</a:t>
            </a:r>
            <a:r>
              <a:rPr lang="en-US" dirty="0"/>
              <a:t> </a:t>
            </a:r>
            <a:r>
              <a:rPr lang="en-US" dirty="0" err="1"/>
              <a:t>metrikama</a:t>
            </a:r>
            <a:r>
              <a:rPr lang="en-US" dirty="0"/>
              <a:t>: </a:t>
            </a:r>
            <a:r>
              <a:rPr lang="en-US" dirty="0" err="1"/>
              <a:t>tačnost</a:t>
            </a:r>
            <a:r>
              <a:rPr lang="en-US" dirty="0"/>
              <a:t>, </a:t>
            </a:r>
            <a:r>
              <a:rPr lang="en-US" dirty="0" err="1"/>
              <a:t>preciznost</a:t>
            </a:r>
            <a:r>
              <a:rPr lang="en-US" dirty="0"/>
              <a:t>, </a:t>
            </a:r>
            <a:r>
              <a:rPr lang="en-US" dirty="0" err="1"/>
              <a:t>odziv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F1 </a:t>
            </a:r>
            <a:r>
              <a:rPr lang="en-US" dirty="0" err="1"/>
              <a:t>mjera</a:t>
            </a:r>
            <a:r>
              <a:rPr lang="en-US" dirty="0"/>
              <a:t>. </a:t>
            </a:r>
            <a:r>
              <a:rPr lang="en-US" dirty="0" err="1"/>
              <a:t>Dodatno</a:t>
            </a:r>
            <a:r>
              <a:rPr lang="en-US" dirty="0"/>
              <a:t> se </a:t>
            </a:r>
            <a:r>
              <a:rPr lang="en-US" dirty="0" err="1"/>
              <a:t>porede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implementacije</a:t>
            </a:r>
            <a:endParaRPr lang="en-US" dirty="0"/>
          </a:p>
          <a:p>
            <a:endParaRPr lang="bs-Latn-BA" dirty="0"/>
          </a:p>
        </p:txBody>
      </p:sp>
    </p:spTree>
    <p:extLst>
      <p:ext uri="{BB962C8B-B14F-4D97-AF65-F5344CB8AC3E}">
        <p14:creationId xmlns:p14="http://schemas.microsoft.com/office/powerpoint/2010/main" val="3883266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66145-742D-4748-9401-149F1C80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Implementacija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63760-CF12-426E-A02A-08EEC6E9C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Za </a:t>
            </a:r>
            <a:r>
              <a:rPr lang="en-US" dirty="0" err="1"/>
              <a:t>implementaciju</a:t>
            </a:r>
            <a:r>
              <a:rPr lang="en-US" dirty="0"/>
              <a:t> </a:t>
            </a:r>
            <a:r>
              <a:rPr lang="en-US" dirty="0" err="1"/>
              <a:t>konvolucione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korištene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otvorenog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</a:t>
            </a:r>
            <a:r>
              <a:rPr lang="en-US" dirty="0" err="1"/>
              <a:t>PyTorch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TorchSharp</a:t>
            </a:r>
            <a:r>
              <a:rPr lang="en-US" dirty="0"/>
              <a:t>, za Python, </a:t>
            </a:r>
            <a:r>
              <a:rPr lang="en-US" dirty="0" err="1"/>
              <a:t>odnosno</a:t>
            </a:r>
            <a:r>
              <a:rPr lang="en-US" dirty="0"/>
              <a:t> .NET </a:t>
            </a:r>
            <a:r>
              <a:rPr lang="en-US" dirty="0" err="1"/>
              <a:t>okruženje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Obje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omotači</a:t>
            </a:r>
            <a:r>
              <a:rPr lang="en-US" dirty="0"/>
              <a:t> (</a:t>
            </a:r>
            <a:r>
              <a:rPr lang="en-US" dirty="0" err="1"/>
              <a:t>engl.</a:t>
            </a:r>
            <a:r>
              <a:rPr lang="en-US" dirty="0"/>
              <a:t> </a:t>
            </a:r>
            <a:r>
              <a:rPr lang="en-US" i="1" dirty="0"/>
              <a:t>wrappers</a:t>
            </a:r>
            <a:r>
              <a:rPr lang="en-US" dirty="0"/>
              <a:t>)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istim</a:t>
            </a:r>
            <a:r>
              <a:rPr lang="en-US" dirty="0"/>
              <a:t> C++ </a:t>
            </a:r>
            <a:r>
              <a:rPr lang="en-US" dirty="0" err="1"/>
              <a:t>jezgrom</a:t>
            </a:r>
            <a:r>
              <a:rPr lang="en-US" dirty="0"/>
              <a:t>,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distribuira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LibTorch</a:t>
            </a:r>
            <a:r>
              <a:rPr lang="en-US" dirty="0"/>
              <a:t> — u </a:t>
            </a:r>
            <a:r>
              <a:rPr lang="en-US" dirty="0" err="1"/>
              <a:t>njemu</a:t>
            </a:r>
            <a:r>
              <a:rPr lang="en-US" dirty="0"/>
              <a:t> se </a:t>
            </a:r>
            <a:r>
              <a:rPr lang="en-US" dirty="0" err="1"/>
              <a:t>izvršava</a:t>
            </a:r>
            <a:r>
              <a:rPr lang="en-US" dirty="0"/>
              <a:t> </a:t>
            </a:r>
            <a:r>
              <a:rPr lang="en-US" dirty="0" err="1"/>
              <a:t>sva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Kako</a:t>
            </a:r>
            <a:r>
              <a:rPr lang="en-US" dirty="0"/>
              <a:t> je </a:t>
            </a:r>
            <a:r>
              <a:rPr lang="en-US" dirty="0" err="1"/>
              <a:t>pozadinska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ista</a:t>
            </a:r>
            <a:r>
              <a:rPr lang="en-US" dirty="0"/>
              <a:t>, </a:t>
            </a:r>
            <a:r>
              <a:rPr lang="en-US" dirty="0" err="1"/>
              <a:t>odabir</a:t>
            </a:r>
            <a:r>
              <a:rPr lang="en-US" dirty="0"/>
              <a:t> Python </a:t>
            </a:r>
            <a:r>
              <a:rPr lang="en-US" dirty="0" err="1"/>
              <a:t>ili</a:t>
            </a:r>
            <a:r>
              <a:rPr lang="en-US" dirty="0"/>
              <a:t> .NET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teorijski</a:t>
            </a:r>
            <a:r>
              <a:rPr lang="en-US" dirty="0"/>
              <a:t> ne bi </a:t>
            </a:r>
            <a:r>
              <a:rPr lang="en-US" dirty="0" err="1"/>
              <a:t>trebao</a:t>
            </a:r>
            <a:r>
              <a:rPr lang="en-US" dirty="0"/>
              <a:t> </a:t>
            </a:r>
            <a:r>
              <a:rPr lang="en-US" dirty="0" err="1"/>
              <a:t>značajno</a:t>
            </a:r>
            <a:r>
              <a:rPr lang="en-US" dirty="0"/>
              <a:t> </a:t>
            </a:r>
            <a:r>
              <a:rPr lang="en-US" dirty="0" err="1"/>
              <a:t>utjecati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849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E29B-4DCC-472C-8716-0E4236202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Podaci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49CA4-95EA-4E69-8738-C94E406BB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Korišten</a:t>
            </a:r>
            <a:r>
              <a:rPr lang="en-US" dirty="0"/>
              <a:t> je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IQ-OTH/NCCD (</a:t>
            </a:r>
            <a:r>
              <a:rPr lang="en-US" dirty="0" err="1"/>
              <a:t>engl.</a:t>
            </a:r>
            <a:r>
              <a:rPr lang="en-US" dirty="0"/>
              <a:t> </a:t>
            </a:r>
            <a:r>
              <a:rPr lang="en-US" i="1" dirty="0"/>
              <a:t>Iraq-Oncology Teaching Hospital / National Center for Cancer Diseases</a:t>
            </a:r>
            <a:r>
              <a:rPr lang="en-US" dirty="0"/>
              <a:t>), </a:t>
            </a:r>
            <a:r>
              <a:rPr lang="en-US" dirty="0" err="1"/>
              <a:t>preuzet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Kaggle </a:t>
            </a:r>
            <a:r>
              <a:rPr lang="en-US" dirty="0" err="1"/>
              <a:t>platforme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110 </a:t>
            </a:r>
            <a:r>
              <a:rPr lang="en-US" dirty="0" err="1"/>
              <a:t>slučajeva</a:t>
            </a:r>
            <a:r>
              <a:rPr lang="en-US" dirty="0"/>
              <a:t>,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kojih</a:t>
            </a:r>
            <a:r>
              <a:rPr lang="en-US" dirty="0"/>
              <a:t> je </a:t>
            </a:r>
            <a:r>
              <a:rPr lang="en-US" dirty="0" err="1"/>
              <a:t>izdvojeno</a:t>
            </a:r>
            <a:r>
              <a:rPr lang="en-US" dirty="0"/>
              <a:t> 1097 </a:t>
            </a:r>
            <a:r>
              <a:rPr lang="en-US" dirty="0" err="1"/>
              <a:t>slika</a:t>
            </a:r>
            <a:r>
              <a:rPr lang="en-US" dirty="0"/>
              <a:t>, </a:t>
            </a:r>
            <a:r>
              <a:rPr lang="en-US" dirty="0" err="1"/>
              <a:t>grupisanih</a:t>
            </a:r>
            <a:r>
              <a:rPr lang="en-US" dirty="0"/>
              <a:t> u tri </a:t>
            </a:r>
            <a:r>
              <a:rPr lang="en-US" dirty="0" err="1"/>
              <a:t>klase</a:t>
            </a:r>
            <a:r>
              <a:rPr lang="en-US" dirty="0"/>
              <a:t>: </a:t>
            </a:r>
          </a:p>
          <a:p>
            <a:r>
              <a:rPr lang="en-US" dirty="0" err="1"/>
              <a:t>Maligno</a:t>
            </a:r>
            <a:r>
              <a:rPr lang="en-US" dirty="0"/>
              <a:t>: 40 </a:t>
            </a:r>
            <a:r>
              <a:rPr lang="en-US" dirty="0" err="1"/>
              <a:t>slučajeva</a:t>
            </a:r>
            <a:endParaRPr lang="en-US" dirty="0"/>
          </a:p>
          <a:p>
            <a:r>
              <a:rPr lang="en-US" dirty="0" err="1"/>
              <a:t>Benigno</a:t>
            </a:r>
            <a:r>
              <a:rPr lang="en-US" dirty="0"/>
              <a:t>: 15 </a:t>
            </a:r>
            <a:r>
              <a:rPr lang="en-US" dirty="0" err="1"/>
              <a:t>slučajeva</a:t>
            </a:r>
            <a:endParaRPr lang="en-US" dirty="0"/>
          </a:p>
          <a:p>
            <a:r>
              <a:rPr lang="en-US" dirty="0" err="1"/>
              <a:t>Normalno</a:t>
            </a:r>
            <a:r>
              <a:rPr lang="en-US" dirty="0"/>
              <a:t>: 55 </a:t>
            </a:r>
            <a:r>
              <a:rPr lang="en-US" dirty="0" err="1"/>
              <a:t>slučajeva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5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66E3-E65B-4C1C-A898-C193B8AD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Preprocesiranja</a:t>
            </a:r>
            <a:r>
              <a:rPr lang="en-US" dirty="0"/>
              <a:t> 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augmentacija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8AA96-E28E-4CAE-8775-04F1D24AA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bs-Latn-BA" dirty="0"/>
              <a:t>Prije treniranja nad podacima su izvršene standardne transformacije, s ciljem uniformnosti podataka, uštede resursa i bolje generalizacije modela.</a:t>
            </a:r>
          </a:p>
          <a:p>
            <a:pPr marL="0" indent="0">
              <a:buNone/>
            </a:pPr>
            <a:r>
              <a:rPr lang="bs-Latn-BA" b="1" dirty="0" err="1"/>
              <a:t>Preprocesiranje</a:t>
            </a:r>
            <a:r>
              <a:rPr lang="bs-Latn-BA" dirty="0"/>
              <a:t>:</a:t>
            </a:r>
          </a:p>
          <a:p>
            <a:r>
              <a:rPr lang="bs-Latn-BA" dirty="0" err="1"/>
              <a:t>Skaliranje</a:t>
            </a:r>
            <a:r>
              <a:rPr lang="bs-Latn-BA" dirty="0"/>
              <a:t> na 256x256 piksela</a:t>
            </a:r>
          </a:p>
          <a:p>
            <a:r>
              <a:rPr lang="bs-Latn-BA" dirty="0"/>
              <a:t>Konverzija u crno-bijelu</a:t>
            </a:r>
            <a:r>
              <a:rPr lang="en-US" dirty="0"/>
              <a:t> </a:t>
            </a:r>
            <a:r>
              <a:rPr lang="en-US" dirty="0" err="1"/>
              <a:t>skalu</a:t>
            </a:r>
            <a:endParaRPr lang="bs-Latn-BA" dirty="0"/>
          </a:p>
          <a:p>
            <a:r>
              <a:rPr lang="bs-Latn-BA" dirty="0"/>
              <a:t>Normalizacija vrijednosti piksela na raspon [0,1]</a:t>
            </a:r>
          </a:p>
          <a:p>
            <a:pPr marL="0" indent="0">
              <a:buNone/>
            </a:pPr>
            <a:endParaRPr lang="bs-Latn-BA" dirty="0"/>
          </a:p>
          <a:p>
            <a:pPr marL="0" indent="0">
              <a:buNone/>
            </a:pPr>
            <a:r>
              <a:rPr lang="bs-Latn-BA" b="1" dirty="0"/>
              <a:t>Augmentacija</a:t>
            </a:r>
            <a:r>
              <a:rPr lang="bs-Latn-BA" dirty="0"/>
              <a:t>:</a:t>
            </a:r>
          </a:p>
          <a:p>
            <a:r>
              <a:rPr lang="bs-Latn-BA" dirty="0"/>
              <a:t>Horizontalno i vertikalno preslikavanje svake slike</a:t>
            </a:r>
          </a:p>
        </p:txBody>
      </p:sp>
    </p:spTree>
    <p:extLst>
      <p:ext uri="{BB962C8B-B14F-4D97-AF65-F5344CB8AC3E}">
        <p14:creationId xmlns:p14="http://schemas.microsoft.com/office/powerpoint/2010/main" val="3503353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2994B-8B2B-4805-ADBB-2737DB2F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Podjela</a:t>
            </a:r>
            <a:r>
              <a:rPr lang="en-US" dirty="0"/>
              <a:t> </a:t>
            </a:r>
            <a:r>
              <a:rPr lang="en-US" dirty="0" err="1"/>
              <a:t>podataka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6351B-9930-4AAD-8CF3-F9E9D24CA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Standardna</a:t>
            </a:r>
            <a:r>
              <a:rPr lang="en-US" dirty="0"/>
              <a:t> </a:t>
            </a:r>
            <a:r>
              <a:rPr lang="en-US" dirty="0" err="1"/>
              <a:t>praksa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neuronskih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je </a:t>
            </a:r>
            <a:r>
              <a:rPr lang="en-US" dirty="0" err="1"/>
              <a:t>podjela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za </a:t>
            </a:r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validaciju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Skup</a:t>
            </a:r>
            <a:r>
              <a:rPr lang="en-US" dirty="0"/>
              <a:t> za </a:t>
            </a:r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75% </a:t>
            </a:r>
            <a:r>
              <a:rPr lang="en-US" dirty="0" err="1"/>
              <a:t>svih</a:t>
            </a:r>
            <a:r>
              <a:rPr lang="en-US" dirty="0"/>
              <a:t> </a:t>
            </a:r>
            <a:r>
              <a:rPr lang="en-US" dirty="0" err="1"/>
              <a:t>primjera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se </a:t>
            </a:r>
            <a:r>
              <a:rPr lang="en-US" dirty="0" err="1"/>
              <a:t>mreža</a:t>
            </a:r>
            <a:r>
              <a:rPr lang="en-US" dirty="0"/>
              <a:t> </a:t>
            </a:r>
            <a:r>
              <a:rPr lang="en-US" dirty="0" err="1"/>
              <a:t>tranira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“</a:t>
            </a:r>
            <a:r>
              <a:rPr lang="en-US" dirty="0" err="1"/>
              <a:t>uči</a:t>
            </a:r>
            <a:r>
              <a:rPr lang="en-US" dirty="0"/>
              <a:t>”. </a:t>
            </a:r>
            <a:r>
              <a:rPr lang="en-US" dirty="0" err="1"/>
              <a:t>Podjela</a:t>
            </a:r>
            <a:r>
              <a:rPr lang="en-US" dirty="0"/>
              <a:t> je </a:t>
            </a:r>
            <a:r>
              <a:rPr lang="en-US" dirty="0" err="1"/>
              <a:t>urađena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klase</a:t>
            </a:r>
            <a:r>
              <a:rPr lang="en-US" dirty="0"/>
              <a:t> </a:t>
            </a:r>
            <a:r>
              <a:rPr lang="en-US" dirty="0" err="1"/>
              <a:t>posebno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 err="1"/>
              <a:t>Ostatak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se </a:t>
            </a:r>
            <a:r>
              <a:rPr lang="en-US" dirty="0" err="1"/>
              <a:t>koristi</a:t>
            </a:r>
            <a:r>
              <a:rPr lang="en-US" dirty="0"/>
              <a:t> za </a:t>
            </a:r>
            <a:r>
              <a:rPr lang="en-US" dirty="0" err="1"/>
              <a:t>validaciju</a:t>
            </a:r>
            <a:r>
              <a:rPr lang="en-US" dirty="0"/>
              <a:t>, </a:t>
            </a:r>
            <a:r>
              <a:rPr lang="en-US" dirty="0" err="1"/>
              <a:t>odnosno</a:t>
            </a:r>
            <a:r>
              <a:rPr lang="en-US" dirty="0"/>
              <a:t> </a:t>
            </a:r>
            <a:r>
              <a:rPr lang="en-US" dirty="0" err="1"/>
              <a:t>objektivnu</a:t>
            </a:r>
            <a:r>
              <a:rPr lang="en-US" dirty="0"/>
              <a:t> </a:t>
            </a:r>
            <a:r>
              <a:rPr lang="en-US" dirty="0" err="1"/>
              <a:t>provjeru</a:t>
            </a:r>
            <a:r>
              <a:rPr lang="en-US" dirty="0"/>
              <a:t> </a:t>
            </a:r>
            <a:r>
              <a:rPr lang="en-US" dirty="0" err="1"/>
              <a:t>kvaliteta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tačnosti</a:t>
            </a:r>
            <a:r>
              <a:rPr lang="en-US" dirty="0"/>
              <a:t> same </a:t>
            </a:r>
            <a:r>
              <a:rPr lang="en-US" dirty="0" err="1"/>
              <a:t>mreže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 err="1"/>
              <a:t>Krajnje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, </a:t>
            </a:r>
            <a:r>
              <a:rPr lang="en-US" dirty="0" err="1"/>
              <a:t>dobijene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oba</a:t>
            </a:r>
            <a:r>
              <a:rPr lang="en-US" dirty="0"/>
              <a:t> </a:t>
            </a:r>
            <a:r>
              <a:rPr lang="en-US" dirty="0" err="1"/>
              <a:t>ekosistema</a:t>
            </a:r>
            <a:r>
              <a:rPr lang="en-US" dirty="0"/>
              <a:t>, </a:t>
            </a:r>
            <a:r>
              <a:rPr lang="en-US" dirty="0" err="1"/>
              <a:t>poredimo</a:t>
            </a:r>
            <a:r>
              <a:rPr lang="en-US" dirty="0"/>
              <a:t> </a:t>
            </a:r>
            <a:r>
              <a:rPr lang="en-US" dirty="0" err="1"/>
              <a:t>koristeći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 </a:t>
            </a:r>
            <a:r>
              <a:rPr lang="en-US" dirty="0" err="1"/>
              <a:t>dobijene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 za </a:t>
            </a:r>
            <a:r>
              <a:rPr lang="en-US" dirty="0" err="1"/>
              <a:t>validaciju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9477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03CD2-7D25-47D6-9F32-00DF0D449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49C6-76DE-4056-8B4A-854897FAC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213085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2806</TotalTime>
  <Words>1205</Words>
  <Application>Microsoft Office PowerPoint</Application>
  <PresentationFormat>Widescreen</PresentationFormat>
  <Paragraphs>80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 UNIVERZITET U TUZLI FAKULTET ELEKTROTEHNIKE  Uporedna analiza Python i .NET okruženja za treniranje modela dubokog učenja na primjeru detekcije raka pluća  Student: Omar Kurtović Mentor: dr.sci. Damir Demirović, vanr.prof. Tuzla, August 2026. godine</vt:lpstr>
      <vt:lpstr>Cilj rada</vt:lpstr>
      <vt:lpstr>PowerPoint Presentation</vt:lpstr>
      <vt:lpstr>Opis problema</vt:lpstr>
      <vt:lpstr>Implementacija </vt:lpstr>
      <vt:lpstr>Podaci</vt:lpstr>
      <vt:lpstr>Preprocesiranja slika i augmentacija</vt:lpstr>
      <vt:lpstr>Podjela podataka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Komparativna analiza ML metodologija</dc:title>
  <dc:creator>Administrator</dc:creator>
  <cp:lastModifiedBy>Administrator</cp:lastModifiedBy>
  <cp:revision>46</cp:revision>
  <dcterms:created xsi:type="dcterms:W3CDTF">2026-05-21T11:24:01Z</dcterms:created>
  <dcterms:modified xsi:type="dcterms:W3CDTF">2026-08-20T16:57:59Z</dcterms:modified>
</cp:coreProperties>
</file>