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2" r:id="rId4"/>
    <p:sldId id="265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AFC"/>
    <a:srgbClr val="256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43B6D-3163-47C3-9DB9-B6EA961A8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562C81-D2B1-4B5E-A3B8-82BEAE4F20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02CBA-94DC-4429-A4DD-669E160C5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6B63C-CDDC-45F1-A941-1E23D4E8195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B2272-A89D-4DA5-B536-D3A04518E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91EB3-BB83-4A04-8DA5-48AC53C32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5CBB4-1A77-4C92-B544-DE0448FC5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028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595DC-4846-499A-9AE3-BD42BAC49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B019D-F32C-4F0C-91F6-5233A04EF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ABA5E-8F00-4A33-8387-2D21E48B2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6B63C-CDDC-45F1-A941-1E23D4E8195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1E93E-323C-42B9-B9CD-9C9246453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F370D-5722-4E2F-9E79-89E6E605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5CBB4-1A77-4C92-B544-DE0448FC5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07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FF12F-2C45-419A-A705-E1A60F14A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AE991-E608-49F4-8BD6-AFA730C62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DC662-FBCD-41BF-A8D6-5CB57FFE1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6B63C-CDDC-45F1-A941-1E23D4E8195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7C2BE-02A3-4D8A-99C1-5BE0E74E2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53542-0F25-4070-A47F-8E6A8EC44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5CBB4-1A77-4C92-B544-DE0448FC5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639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3CFD8-ACB2-46C7-9CF3-C9E9B4DA6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8796B-0D0C-4FB4-B9D1-C407ABEF9F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E7CE8F-556F-446F-859D-92BD1A6DFC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E42BC8-8C0A-4A9C-97AE-D98523FBB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6B63C-CDDC-45F1-A941-1E23D4E8195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1AF4B8-8B65-4D96-8EB4-0A2C8647B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2A9D25-2D13-46A1-9C35-2B47201B2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5CBB4-1A77-4C92-B544-DE0448FC5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247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CFD9D-1CF7-47DB-8130-FCCA0C41E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54DF0-5840-43D0-BFEB-8BD9F9B06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273804-2CC3-4D72-A4C5-0C1FFC10A5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296EB3-B331-4C74-B1DF-5BF3D2499B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537DC6-D9B3-4B8F-84F0-03CDEB4AC4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A16214-5154-4548-8C62-75E31BC31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6B63C-CDDC-45F1-A941-1E23D4E8195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BEB425-358F-44A5-836D-AC35AF849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2706DA-0A0C-4869-93B7-9479174D0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5CBB4-1A77-4C92-B544-DE0448FC5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12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471B4-E30C-4F3F-B8A0-7DD6E6B87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2E56A3-1551-41A6-989E-5692F87EA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6B63C-CDDC-45F1-A941-1E23D4E8195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F01AEC-C94D-43F8-97E6-12F4454CD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0B8DCC-2BE3-4752-B70C-C0CE12DB7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5CBB4-1A77-4C92-B544-DE0448FC5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077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65200E-32B4-4F5A-B311-9DCC76FAF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6B63C-CDDC-45F1-A941-1E23D4E8195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4961B0-5EC7-4890-A0EB-86A108AF4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0ACC5-0875-4E07-8A28-8BCF83B95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5CBB4-1A77-4C92-B544-DE0448FC5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84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F4900-188E-4DC3-96E6-99D9675B3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D825F-FDE7-484E-84B4-9966DE526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EDBBEF-FC4B-4F44-A244-F0FE4564B7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C56A5E-EA9B-4FEB-A0FD-2386FEB32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6B63C-CDDC-45F1-A941-1E23D4E8195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1353D0-70C5-4594-919C-F065CDE47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15FDBD-DC20-4E4F-9B5F-5F11B0146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5CBB4-1A77-4C92-B544-DE0448FC5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810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6E1B3-A72F-4D2A-94CE-A678E707A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ABE76-5ACB-4BE4-B46B-EAE595CAD8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C28920-B350-44EB-A6D2-8C7917EB0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3BC412-E77C-4857-BDF8-9CBA47854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6B63C-CDDC-45F1-A941-1E23D4E8195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913BAA-0590-4BB6-8329-3D50C158D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9DD94-A046-42E7-8478-AA879A424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5CBB4-1A77-4C92-B544-DE0448FC5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454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767A2-731D-4D61-A128-DD329A62C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54BE0D-35C1-4EBA-8D27-AB4F28F53E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FAEA0-6188-4BCA-9936-D40496BFC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6B63C-CDDC-45F1-A941-1E23D4E8195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892FD-79B6-4EC3-B725-FB600946C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74E9D-1A45-42A5-A923-E9748B3F8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5CBB4-1A77-4C92-B544-DE0448FC5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093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EA79EA-D7E8-445C-B5D5-8414B10CFA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E78FAE-8400-4566-99BC-72B8451A21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FB3A0-B99D-4B67-B95D-8172842FE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6B63C-CDDC-45F1-A941-1E23D4E8195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D1D7A-3BAC-4F4D-998C-ECBA6F9DD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BB05C-99C6-408E-927F-835B32494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5CBB4-1A77-4C92-B544-DE0448FC5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506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4F911E-A021-4FA1-93F6-42150D077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313C43-FC44-4A2B-86DE-BEB64887E9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7145B-8B9E-4706-B6E0-73A36ED1AD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6B63C-CDDC-45F1-A941-1E23D4E8195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9BC06-E26C-40A6-A181-7F27BC34D5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ED9C6-D83D-4A48-8B7A-214CD1D211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C5CBB4-1A77-4C92-B544-DE0448FC5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227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7DB36-990C-47F5-9AEA-61517AE1D1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marL="0" marR="0" algn="ctr">
              <a:spcBef>
                <a:spcPts val="0"/>
              </a:spcBef>
              <a:spcAft>
                <a:spcPts val="1000"/>
              </a:spcAft>
            </a:pPr>
            <a:br>
              <a:rPr lang="bs-Latn-BA" sz="4000" cap="small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bs-Latn-BA" sz="4000" cap="small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Uporedna analiza Python i .NET okruženja za treniranje modela dubokog učenja na primjeru detekcije raka pluća</a:t>
            </a:r>
            <a:endParaRPr lang="en-US" sz="4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A947D18-48E6-4BEF-BF23-5070FB7F27B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3999" y="4296302"/>
            <a:ext cx="914399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9740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D972C-BCE3-4F5E-B614-122411838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Cilj</a:t>
            </a:r>
            <a:r>
              <a:rPr lang="en-US" dirty="0"/>
              <a:t> </a:t>
            </a:r>
            <a:r>
              <a:rPr lang="en-US" dirty="0" err="1"/>
              <a:t>rada</a:t>
            </a:r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67B3B748-2B19-45C0-91A4-47B1E8A450E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91" b="3391"/>
          <a:stretch>
            <a:fillRect/>
          </a:stretch>
        </p:blipFill>
        <p:spPr>
          <a:xfrm>
            <a:off x="5183188" y="987426"/>
            <a:ext cx="6172200" cy="4387764"/>
          </a:xfrm>
          <a:prstGeom prst="roundRect">
            <a:avLst>
              <a:gd name="adj" fmla="val 7115"/>
            </a:avLst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815A87-A581-4D1B-9581-F90ACA453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err="1"/>
              <a:t>Dominacija</a:t>
            </a:r>
            <a:r>
              <a:rPr lang="en-US" dirty="0"/>
              <a:t> Python </a:t>
            </a:r>
            <a:r>
              <a:rPr lang="en-US" dirty="0" err="1"/>
              <a:t>programskog</a:t>
            </a:r>
            <a:r>
              <a:rPr lang="en-US" dirty="0"/>
              <a:t> </a:t>
            </a:r>
            <a:r>
              <a:rPr lang="en-US" dirty="0" err="1"/>
              <a:t>jezika</a:t>
            </a:r>
            <a:r>
              <a:rPr lang="en-US" dirty="0"/>
              <a:t> za </a:t>
            </a:r>
            <a:r>
              <a:rPr lang="en-US" dirty="0" err="1"/>
              <a:t>rješavanja</a:t>
            </a:r>
            <a:r>
              <a:rPr lang="en-US" dirty="0"/>
              <a:t> </a:t>
            </a:r>
            <a:r>
              <a:rPr lang="en-US" dirty="0" err="1"/>
              <a:t>problema</a:t>
            </a:r>
            <a:r>
              <a:rPr lang="en-US" dirty="0"/>
              <a:t> </a:t>
            </a:r>
            <a:r>
              <a:rPr lang="en-US" dirty="0" err="1"/>
              <a:t>uz</a:t>
            </a:r>
            <a:r>
              <a:rPr lang="en-US" dirty="0"/>
              <a:t> </a:t>
            </a:r>
            <a:r>
              <a:rPr lang="en-US" dirty="0" err="1"/>
              <a:t>pomoć</a:t>
            </a:r>
            <a:r>
              <a:rPr lang="en-US" dirty="0"/>
              <a:t> </a:t>
            </a:r>
            <a:r>
              <a:rPr lang="en-US" dirty="0" err="1"/>
              <a:t>mašinskog</a:t>
            </a:r>
            <a:r>
              <a:rPr lang="en-US" dirty="0"/>
              <a:t> </a:t>
            </a:r>
            <a:r>
              <a:rPr lang="en-US" dirty="0" err="1"/>
              <a:t>učenja</a:t>
            </a:r>
            <a:r>
              <a:rPr lang="en-US" dirty="0"/>
              <a:t> je </a:t>
            </a:r>
            <a:r>
              <a:rPr lang="en-US" dirty="0" err="1"/>
              <a:t>siguran</a:t>
            </a:r>
            <a:r>
              <a:rPr lang="en-US" dirty="0"/>
              <a:t>. </a:t>
            </a:r>
          </a:p>
          <a:p>
            <a:r>
              <a:rPr lang="en-US" dirty="0" err="1"/>
              <a:t>Međutim</a:t>
            </a:r>
            <a:r>
              <a:rPr lang="en-US" dirty="0"/>
              <a:t>, </a:t>
            </a:r>
            <a:r>
              <a:rPr lang="en-US" dirty="0" err="1"/>
              <a:t>veliki</a:t>
            </a:r>
            <a:r>
              <a:rPr lang="en-US" dirty="0"/>
              <a:t>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postojećih</a:t>
            </a:r>
            <a:r>
              <a:rPr lang="en-US" dirty="0"/>
              <a:t> </a:t>
            </a:r>
            <a:r>
              <a:rPr lang="en-US" dirty="0" err="1"/>
              <a:t>aplikacija</a:t>
            </a:r>
            <a:r>
              <a:rPr lang="en-US" dirty="0"/>
              <a:t> se </a:t>
            </a:r>
            <a:r>
              <a:rPr lang="en-US" dirty="0" err="1"/>
              <a:t>oslanja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raznolik</a:t>
            </a:r>
            <a:r>
              <a:rPr lang="en-US" dirty="0"/>
              <a:t> </a:t>
            </a:r>
            <a:r>
              <a:rPr lang="en-US" dirty="0" err="1"/>
              <a:t>skup</a:t>
            </a:r>
            <a:r>
              <a:rPr lang="en-US" dirty="0"/>
              <a:t> </a:t>
            </a:r>
            <a:r>
              <a:rPr lang="en-US" dirty="0" err="1"/>
              <a:t>tehnologija</a:t>
            </a:r>
            <a:r>
              <a:rPr lang="en-US" dirty="0"/>
              <a:t>. </a:t>
            </a:r>
            <a:r>
              <a:rPr lang="en-US" dirty="0" err="1"/>
              <a:t>Neki</a:t>
            </a:r>
            <a:r>
              <a:rPr lang="en-US" dirty="0"/>
              <a:t> od </a:t>
            </a:r>
            <a:r>
              <a:rPr lang="en-US" dirty="0" err="1"/>
              <a:t>najpopularnih</a:t>
            </a:r>
            <a:r>
              <a:rPr lang="en-US" dirty="0"/>
              <a:t> </a:t>
            </a:r>
            <a:r>
              <a:rPr lang="en-US" dirty="0" err="1"/>
              <a:t>programskih</a:t>
            </a:r>
            <a:r>
              <a:rPr lang="en-US" dirty="0"/>
              <a:t> </a:t>
            </a:r>
            <a:r>
              <a:rPr lang="en-US" dirty="0" err="1"/>
              <a:t>jezika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: TypeScript, Java, C#, PHP, C++ I </a:t>
            </a:r>
            <a:r>
              <a:rPr lang="en-US" dirty="0" err="1"/>
              <a:t>drugi</a:t>
            </a:r>
            <a:r>
              <a:rPr lang="en-US" dirty="0"/>
              <a:t>. </a:t>
            </a:r>
          </a:p>
          <a:p>
            <a:r>
              <a:rPr lang="en-US" dirty="0" err="1"/>
              <a:t>Proces</a:t>
            </a:r>
            <a:r>
              <a:rPr lang="en-US" dirty="0"/>
              <a:t> </a:t>
            </a:r>
            <a:r>
              <a:rPr lang="en-US" dirty="0" err="1"/>
              <a:t>uvođenja</a:t>
            </a:r>
            <a:r>
              <a:rPr lang="en-US" dirty="0"/>
              <a:t> Python </a:t>
            </a:r>
            <a:r>
              <a:rPr lang="en-US" dirty="0" err="1"/>
              <a:t>rješenja</a:t>
            </a:r>
            <a:r>
              <a:rPr lang="en-US" dirty="0"/>
              <a:t> u </a:t>
            </a:r>
            <a:r>
              <a:rPr lang="en-US" dirty="0" err="1"/>
              <a:t>postojeće</a:t>
            </a:r>
            <a:r>
              <a:rPr lang="en-US" dirty="0"/>
              <a:t> </a:t>
            </a:r>
            <a:r>
              <a:rPr lang="en-US" dirty="0" err="1"/>
              <a:t>aplikacije</a:t>
            </a:r>
            <a:r>
              <a:rPr lang="en-US" dirty="0"/>
              <a:t> </a:t>
            </a:r>
            <a:r>
              <a:rPr lang="en-US" dirty="0" err="1"/>
              <a:t>uvodi</a:t>
            </a:r>
            <a:r>
              <a:rPr lang="en-US" dirty="0"/>
              <a:t> </a:t>
            </a:r>
            <a:r>
              <a:rPr lang="en-US" dirty="0" err="1"/>
              <a:t>dodatnu</a:t>
            </a:r>
            <a:r>
              <a:rPr lang="en-US" dirty="0"/>
              <a:t> </a:t>
            </a:r>
            <a:r>
              <a:rPr lang="en-US" dirty="0" err="1"/>
              <a:t>kompleksnost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Pitanje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rad </a:t>
            </a:r>
            <a:r>
              <a:rPr lang="en-US" dirty="0" err="1"/>
              <a:t>postavlja</a:t>
            </a:r>
            <a:r>
              <a:rPr lang="en-US" dirty="0"/>
              <a:t> </a:t>
            </a:r>
            <a:r>
              <a:rPr lang="en-US" dirty="0" err="1"/>
              <a:t>jeste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stvarne</a:t>
            </a:r>
            <a:r>
              <a:rPr lang="en-US" dirty="0"/>
              <a:t> </a:t>
            </a:r>
            <a:r>
              <a:rPr lang="en-US" dirty="0" err="1"/>
              <a:t>prednosti</a:t>
            </a:r>
            <a:r>
              <a:rPr lang="en-US" dirty="0"/>
              <a:t>, mane I </a:t>
            </a:r>
            <a:r>
              <a:rPr lang="en-US" dirty="0" err="1"/>
              <a:t>razlike</a:t>
            </a:r>
            <a:r>
              <a:rPr lang="en-US" dirty="0"/>
              <a:t> u </a:t>
            </a:r>
            <a:r>
              <a:rPr lang="en-US" dirty="0" err="1"/>
              <a:t>performansama</a:t>
            </a:r>
            <a:r>
              <a:rPr lang="en-US" dirty="0"/>
              <a:t> </a:t>
            </a:r>
            <a:r>
              <a:rPr lang="en-US" dirty="0" err="1"/>
              <a:t>prilikom</a:t>
            </a:r>
            <a:r>
              <a:rPr lang="en-US" dirty="0"/>
              <a:t> </a:t>
            </a:r>
            <a:r>
              <a:rPr lang="en-US" dirty="0" err="1"/>
              <a:t>rješavanja</a:t>
            </a:r>
            <a:r>
              <a:rPr lang="en-US" dirty="0"/>
              <a:t> </a:t>
            </a:r>
            <a:r>
              <a:rPr lang="en-US" dirty="0" err="1"/>
              <a:t>problema</a:t>
            </a:r>
            <a:r>
              <a:rPr lang="en-US" dirty="0"/>
              <a:t> </a:t>
            </a:r>
            <a:r>
              <a:rPr lang="en-US" dirty="0" err="1"/>
              <a:t>mašinskog</a:t>
            </a:r>
            <a:r>
              <a:rPr lang="en-US" dirty="0"/>
              <a:t> </a:t>
            </a:r>
            <a:r>
              <a:rPr lang="en-US" dirty="0" err="1"/>
              <a:t>učenja</a:t>
            </a:r>
            <a:r>
              <a:rPr lang="en-US" dirty="0"/>
              <a:t> u </a:t>
            </a:r>
            <a:r>
              <a:rPr lang="en-US" dirty="0" err="1"/>
              <a:t>alternativnom</a:t>
            </a:r>
            <a:r>
              <a:rPr lang="en-US" dirty="0"/>
              <a:t> </a:t>
            </a:r>
            <a:r>
              <a:rPr lang="en-US" dirty="0" err="1"/>
              <a:t>ekosistemu</a:t>
            </a:r>
            <a:r>
              <a:rPr lang="en-US" dirty="0"/>
              <a:t> od Python, </a:t>
            </a:r>
            <a:r>
              <a:rPr lang="en-US" dirty="0" err="1"/>
              <a:t>poput</a:t>
            </a:r>
            <a:r>
              <a:rPr lang="en-US" dirty="0"/>
              <a:t> .NET.</a:t>
            </a:r>
            <a:endParaRPr lang="bs-Latn-BA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D9F49E-587E-48EE-959B-59DC6829D5B4}"/>
              </a:ext>
            </a:extLst>
          </p:cNvPr>
          <p:cNvSpPr txBox="1"/>
          <p:nvPr/>
        </p:nvSpPr>
        <p:spPr>
          <a:xfrm>
            <a:off x="5180012" y="5424617"/>
            <a:ext cx="617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Najčešće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korištena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okruženja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za AI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projekte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(GitHub 2025) </a:t>
            </a:r>
          </a:p>
        </p:txBody>
      </p:sp>
    </p:spTree>
    <p:extLst>
      <p:ext uri="{BB962C8B-B14F-4D97-AF65-F5344CB8AC3E}">
        <p14:creationId xmlns:p14="http://schemas.microsoft.com/office/powerpoint/2010/main" val="4084039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CF110-AACF-4E04-B21A-4E7465087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Opis</a:t>
            </a:r>
            <a:r>
              <a:rPr lang="en-US" dirty="0"/>
              <a:t> </a:t>
            </a:r>
            <a:r>
              <a:rPr lang="en-US" dirty="0" err="1"/>
              <a:t>problema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A5AAF4-CF89-4D12-B712-B5D660BF337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Za </a:t>
            </a:r>
            <a:r>
              <a:rPr lang="en-US" dirty="0" err="1"/>
              <a:t>analizu</a:t>
            </a:r>
            <a:r>
              <a:rPr lang="en-US" dirty="0"/>
              <a:t> </a:t>
            </a:r>
            <a:r>
              <a:rPr lang="en-US" dirty="0" err="1"/>
              <a:t>okruženja</a:t>
            </a:r>
            <a:r>
              <a:rPr lang="en-US" dirty="0"/>
              <a:t>, </a:t>
            </a:r>
            <a:r>
              <a:rPr lang="en-US" dirty="0" err="1"/>
              <a:t>odabran</a:t>
            </a:r>
            <a:r>
              <a:rPr lang="en-US" dirty="0"/>
              <a:t> je problem </a:t>
            </a:r>
            <a:r>
              <a:rPr lang="en-US" dirty="0" err="1"/>
              <a:t>detekcija</a:t>
            </a:r>
            <a:r>
              <a:rPr lang="en-US" dirty="0"/>
              <a:t> </a:t>
            </a:r>
            <a:r>
              <a:rPr lang="en-US" dirty="0" err="1"/>
              <a:t>raka</a:t>
            </a:r>
            <a:r>
              <a:rPr lang="en-US" dirty="0"/>
              <a:t> </a:t>
            </a:r>
            <a:r>
              <a:rPr lang="en-US" dirty="0" err="1"/>
              <a:t>pluća</a:t>
            </a:r>
            <a:r>
              <a:rPr lang="en-US" dirty="0"/>
              <a:t> </a:t>
            </a:r>
            <a:r>
              <a:rPr lang="en-US" dirty="0" err="1"/>
              <a:t>primjenom</a:t>
            </a:r>
            <a:r>
              <a:rPr lang="en-US" dirty="0"/>
              <a:t> </a:t>
            </a:r>
            <a:r>
              <a:rPr lang="en-US" dirty="0" err="1"/>
              <a:t>konvolucionih</a:t>
            </a:r>
            <a:r>
              <a:rPr lang="en-US" dirty="0"/>
              <a:t> </a:t>
            </a:r>
            <a:r>
              <a:rPr lang="en-US" dirty="0" err="1"/>
              <a:t>neuronskih</a:t>
            </a:r>
            <a:r>
              <a:rPr lang="en-US" dirty="0"/>
              <a:t> </a:t>
            </a:r>
            <a:r>
              <a:rPr lang="en-US" dirty="0" err="1"/>
              <a:t>mreža</a:t>
            </a:r>
            <a:r>
              <a:rPr lang="en-US" dirty="0"/>
              <a:t> </a:t>
            </a:r>
            <a:r>
              <a:rPr lang="en-US" dirty="0" err="1"/>
              <a:t>nad</a:t>
            </a:r>
            <a:r>
              <a:rPr lang="en-US" dirty="0"/>
              <a:t> </a:t>
            </a:r>
            <a:r>
              <a:rPr lang="en-US" dirty="0" err="1"/>
              <a:t>javno</a:t>
            </a:r>
            <a:r>
              <a:rPr lang="en-US" dirty="0"/>
              <a:t> </a:t>
            </a:r>
            <a:r>
              <a:rPr lang="en-US" dirty="0" err="1"/>
              <a:t>dostupnim</a:t>
            </a:r>
            <a:r>
              <a:rPr lang="en-US" dirty="0"/>
              <a:t> </a:t>
            </a:r>
            <a:r>
              <a:rPr lang="en-US" dirty="0" err="1"/>
              <a:t>medicinskim</a:t>
            </a:r>
            <a:r>
              <a:rPr lang="en-US" dirty="0"/>
              <a:t> </a:t>
            </a:r>
            <a:r>
              <a:rPr lang="en-US" dirty="0" err="1"/>
              <a:t>podacima</a:t>
            </a:r>
            <a:r>
              <a:rPr lang="en-US" dirty="0"/>
              <a:t>. </a:t>
            </a:r>
          </a:p>
          <a:p>
            <a:r>
              <a:rPr lang="en-US" dirty="0" err="1"/>
              <a:t>Metodologija</a:t>
            </a:r>
            <a:r>
              <a:rPr lang="en-US" dirty="0"/>
              <a:t> </a:t>
            </a:r>
            <a:r>
              <a:rPr lang="en-US" dirty="0" err="1"/>
              <a:t>treniranja</a:t>
            </a:r>
            <a:r>
              <a:rPr lang="en-US" dirty="0"/>
              <a:t> </a:t>
            </a:r>
            <a:r>
              <a:rPr lang="en-US" dirty="0" err="1"/>
              <a:t>obuhvata</a:t>
            </a:r>
            <a:r>
              <a:rPr lang="en-US" dirty="0"/>
              <a:t> </a:t>
            </a:r>
            <a:r>
              <a:rPr lang="en-US" dirty="0" err="1"/>
              <a:t>implementaciju</a:t>
            </a:r>
            <a:r>
              <a:rPr lang="en-US" dirty="0"/>
              <a:t> </a:t>
            </a:r>
            <a:r>
              <a:rPr lang="en-US" dirty="0" err="1"/>
              <a:t>identične</a:t>
            </a:r>
            <a:r>
              <a:rPr lang="en-US" dirty="0"/>
              <a:t> </a:t>
            </a:r>
            <a:r>
              <a:rPr lang="en-US" dirty="0" err="1"/>
              <a:t>arhitekture</a:t>
            </a:r>
            <a:r>
              <a:rPr lang="en-US" dirty="0"/>
              <a:t> </a:t>
            </a:r>
            <a:r>
              <a:rPr lang="en-US" dirty="0" err="1"/>
              <a:t>neuronske</a:t>
            </a:r>
            <a:r>
              <a:rPr lang="en-US" dirty="0"/>
              <a:t> </a:t>
            </a:r>
            <a:r>
              <a:rPr lang="en-US" dirty="0" err="1"/>
              <a:t>mreže</a:t>
            </a:r>
            <a:r>
              <a:rPr lang="en-US" dirty="0"/>
              <a:t> u </a:t>
            </a:r>
            <a:r>
              <a:rPr lang="en-US" dirty="0" err="1"/>
              <a:t>oba</a:t>
            </a:r>
            <a:r>
              <a:rPr lang="en-US" dirty="0"/>
              <a:t> </a:t>
            </a:r>
            <a:r>
              <a:rPr lang="en-US" dirty="0" err="1"/>
              <a:t>okruženja</a:t>
            </a:r>
            <a:r>
              <a:rPr lang="en-US" dirty="0"/>
              <a:t>,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treniranje</a:t>
            </a:r>
            <a:r>
              <a:rPr lang="en-US" dirty="0"/>
              <a:t> </a:t>
            </a:r>
            <a:r>
              <a:rPr lang="en-US" dirty="0" err="1"/>
              <a:t>mreže</a:t>
            </a:r>
            <a:r>
              <a:rPr lang="en-US" dirty="0"/>
              <a:t> </a:t>
            </a:r>
            <a:r>
              <a:rPr lang="en-US" dirty="0" err="1"/>
              <a:t>nad</a:t>
            </a:r>
            <a:r>
              <a:rPr lang="en-US" dirty="0"/>
              <a:t> </a:t>
            </a:r>
            <a:r>
              <a:rPr lang="en-US" dirty="0" err="1"/>
              <a:t>istim</a:t>
            </a:r>
            <a:r>
              <a:rPr lang="en-US" dirty="0"/>
              <a:t> </a:t>
            </a:r>
            <a:r>
              <a:rPr lang="en-US" dirty="0" err="1"/>
              <a:t>skupom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. </a:t>
            </a:r>
          </a:p>
          <a:p>
            <a:r>
              <a:rPr lang="en-US" dirty="0" err="1"/>
              <a:t>Evaluacija</a:t>
            </a:r>
            <a:r>
              <a:rPr lang="en-US" dirty="0"/>
              <a:t> </a:t>
            </a:r>
            <a:r>
              <a:rPr lang="en-US" dirty="0" err="1"/>
              <a:t>okruženja</a:t>
            </a:r>
            <a:r>
              <a:rPr lang="en-US" dirty="0"/>
              <a:t> se </a:t>
            </a:r>
            <a:r>
              <a:rPr lang="en-US" dirty="0" err="1"/>
              <a:t>radi</a:t>
            </a:r>
            <a:r>
              <a:rPr lang="en-US" dirty="0"/>
              <a:t> </a:t>
            </a:r>
            <a:r>
              <a:rPr lang="en-US" dirty="0" err="1"/>
              <a:t>pomoću</a:t>
            </a:r>
            <a:r>
              <a:rPr lang="en-US" dirty="0"/>
              <a:t> </a:t>
            </a:r>
            <a:r>
              <a:rPr lang="en-US" dirty="0" err="1"/>
              <a:t>standardnih</a:t>
            </a:r>
            <a:r>
              <a:rPr lang="en-US" dirty="0"/>
              <a:t> </a:t>
            </a:r>
            <a:r>
              <a:rPr lang="en-US" dirty="0" err="1"/>
              <a:t>klasifikacijskih</a:t>
            </a:r>
            <a:r>
              <a:rPr lang="en-US" dirty="0"/>
              <a:t> </a:t>
            </a:r>
            <a:r>
              <a:rPr lang="en-US" dirty="0" err="1"/>
              <a:t>metrika</a:t>
            </a:r>
            <a:r>
              <a:rPr lang="en-US" dirty="0"/>
              <a:t> </a:t>
            </a:r>
            <a:r>
              <a:rPr lang="en-US" dirty="0" err="1"/>
              <a:t>poput</a:t>
            </a:r>
            <a:r>
              <a:rPr lang="en-US" dirty="0"/>
              <a:t> </a:t>
            </a:r>
            <a:r>
              <a:rPr lang="en-US" dirty="0" err="1"/>
              <a:t>tačnosti</a:t>
            </a:r>
            <a:r>
              <a:rPr lang="en-US" dirty="0"/>
              <a:t>, </a:t>
            </a:r>
            <a:r>
              <a:rPr lang="en-US" dirty="0" err="1"/>
              <a:t>odziva</a:t>
            </a:r>
            <a:r>
              <a:rPr lang="en-US" dirty="0"/>
              <a:t>, </a:t>
            </a:r>
            <a:r>
              <a:rPr lang="en-US" dirty="0" err="1"/>
              <a:t>preciznosti</a:t>
            </a:r>
            <a:r>
              <a:rPr lang="en-US" dirty="0"/>
              <a:t>, F1 </a:t>
            </a:r>
            <a:r>
              <a:rPr lang="en-US" dirty="0" err="1"/>
              <a:t>skora</a:t>
            </a:r>
            <a:r>
              <a:rPr lang="en-US" dirty="0"/>
              <a:t>, </a:t>
            </a:r>
            <a:r>
              <a:rPr lang="en-US" dirty="0" err="1"/>
              <a:t>vremena</a:t>
            </a:r>
            <a:r>
              <a:rPr lang="en-US" dirty="0"/>
              <a:t> </a:t>
            </a:r>
            <a:r>
              <a:rPr lang="en-US" dirty="0" err="1"/>
              <a:t>treniranja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I </a:t>
            </a:r>
            <a:r>
              <a:rPr lang="en-US" dirty="0" err="1"/>
              <a:t>efkikasnosti</a:t>
            </a:r>
            <a:r>
              <a:rPr lang="en-US" dirty="0"/>
              <a:t> </a:t>
            </a:r>
            <a:r>
              <a:rPr lang="en-US" dirty="0" err="1"/>
              <a:t>razvoja</a:t>
            </a:r>
            <a:r>
              <a:rPr lang="en-US" dirty="0"/>
              <a:t> I </a:t>
            </a:r>
            <a:r>
              <a:rPr lang="en-US" dirty="0" err="1"/>
              <a:t>podrške</a:t>
            </a:r>
            <a:r>
              <a:rPr lang="en-US" dirty="0"/>
              <a:t> za </a:t>
            </a:r>
            <a:r>
              <a:rPr lang="en-US" dirty="0" err="1"/>
              <a:t>mašinsko</a:t>
            </a:r>
            <a:r>
              <a:rPr lang="en-US" dirty="0"/>
              <a:t> </a:t>
            </a:r>
            <a:r>
              <a:rPr lang="en-US" dirty="0" err="1"/>
              <a:t>učenje</a:t>
            </a:r>
            <a:r>
              <a:rPr lang="en-US" dirty="0"/>
              <a:t> u </a:t>
            </a:r>
            <a:r>
              <a:rPr lang="en-US" dirty="0" err="1"/>
              <a:t>oba</a:t>
            </a:r>
            <a:r>
              <a:rPr lang="en-US" dirty="0"/>
              <a:t> </a:t>
            </a:r>
            <a:r>
              <a:rPr lang="en-US" dirty="0" err="1"/>
              <a:t>okruženja</a:t>
            </a:r>
            <a:r>
              <a:rPr lang="en-US" dirty="0"/>
              <a:t>.</a:t>
            </a: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9D400194-B4B8-4E2B-B32F-6755728B20E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1" b="2861"/>
          <a:stretch>
            <a:fillRect/>
          </a:stretch>
        </p:blipFill>
        <p:spPr>
          <a:prstGeom prst="roundRect">
            <a:avLst>
              <a:gd name="adj" fmla="val 7156"/>
            </a:avLst>
          </a:prstGeom>
        </p:spPr>
      </p:pic>
    </p:spTree>
    <p:extLst>
      <p:ext uri="{BB962C8B-B14F-4D97-AF65-F5344CB8AC3E}">
        <p14:creationId xmlns:p14="http://schemas.microsoft.com/office/powerpoint/2010/main" val="3312300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85F22-80A3-4B4A-8821-FCD74188F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Implementacija</a:t>
            </a:r>
            <a:r>
              <a:rPr lang="en-US" dirty="0"/>
              <a:t>	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3F1A3E-ADF7-4E5D-AD5B-B6CA8A17BA6D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7C2E54-8542-4003-9633-9A2E1A93E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Za </a:t>
            </a:r>
            <a:r>
              <a:rPr lang="en-US" dirty="0" err="1"/>
              <a:t>implementacija</a:t>
            </a:r>
            <a:r>
              <a:rPr lang="en-US" dirty="0"/>
              <a:t> </a:t>
            </a:r>
            <a:r>
              <a:rPr lang="en-US" dirty="0" err="1"/>
              <a:t>konvolucione</a:t>
            </a:r>
            <a:r>
              <a:rPr lang="en-US" dirty="0"/>
              <a:t> </a:t>
            </a:r>
            <a:r>
              <a:rPr lang="en-US" dirty="0" err="1"/>
              <a:t>neuronske</a:t>
            </a:r>
            <a:r>
              <a:rPr lang="en-US" dirty="0"/>
              <a:t> </a:t>
            </a:r>
            <a:r>
              <a:rPr lang="en-US" dirty="0" err="1"/>
              <a:t>mreže</a:t>
            </a:r>
            <a:r>
              <a:rPr lang="en-US" dirty="0"/>
              <a:t> </a:t>
            </a:r>
            <a:r>
              <a:rPr lang="en-US" dirty="0" err="1"/>
              <a:t>korištene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popularne</a:t>
            </a:r>
            <a:r>
              <a:rPr lang="en-US" dirty="0"/>
              <a:t> </a:t>
            </a:r>
            <a:r>
              <a:rPr lang="en-US" dirty="0" err="1"/>
              <a:t>biblioteke</a:t>
            </a:r>
            <a:r>
              <a:rPr lang="en-US" dirty="0"/>
              <a:t> </a:t>
            </a:r>
            <a:r>
              <a:rPr lang="en-US" dirty="0" err="1"/>
              <a:t>otvorenog</a:t>
            </a:r>
            <a:r>
              <a:rPr lang="en-US" dirty="0"/>
              <a:t> </a:t>
            </a:r>
            <a:r>
              <a:rPr lang="en-US" dirty="0" err="1"/>
              <a:t>koda</a:t>
            </a:r>
            <a:r>
              <a:rPr lang="en-US" dirty="0"/>
              <a:t>, </a:t>
            </a:r>
            <a:r>
              <a:rPr lang="en-US" dirty="0" err="1"/>
              <a:t>PyTorch</a:t>
            </a:r>
            <a:r>
              <a:rPr lang="en-US" dirty="0"/>
              <a:t> I </a:t>
            </a:r>
            <a:r>
              <a:rPr lang="en-US" dirty="0" err="1"/>
              <a:t>TorchSharp</a:t>
            </a:r>
            <a:r>
              <a:rPr lang="en-US" dirty="0"/>
              <a:t> za Python I .NET </a:t>
            </a:r>
            <a:r>
              <a:rPr lang="en-US" dirty="0" err="1"/>
              <a:t>okruženje</a:t>
            </a:r>
            <a:r>
              <a:rPr lang="en-US" dirty="0"/>
              <a:t> </a:t>
            </a:r>
            <a:r>
              <a:rPr lang="en-US" dirty="0" err="1"/>
              <a:t>respektivno</a:t>
            </a:r>
            <a:r>
              <a:rPr lang="en-US" dirty="0"/>
              <a:t>.</a:t>
            </a:r>
          </a:p>
          <a:p>
            <a:r>
              <a:rPr lang="en-US" dirty="0" err="1"/>
              <a:t>Obje</a:t>
            </a:r>
            <a:r>
              <a:rPr lang="en-US" dirty="0"/>
              <a:t> </a:t>
            </a:r>
            <a:r>
              <a:rPr lang="en-US" dirty="0" err="1"/>
              <a:t>navedene</a:t>
            </a:r>
            <a:r>
              <a:rPr lang="en-US" dirty="0"/>
              <a:t> </a:t>
            </a:r>
            <a:r>
              <a:rPr lang="en-US" dirty="0" err="1"/>
              <a:t>biblioteke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takozvani</a:t>
            </a:r>
            <a:r>
              <a:rPr lang="en-US" dirty="0"/>
              <a:t> </a:t>
            </a:r>
            <a:r>
              <a:rPr lang="en-US" dirty="0" err="1"/>
              <a:t>wrapperi</a:t>
            </a:r>
            <a:r>
              <a:rPr lang="en-US" dirty="0"/>
              <a:t> koji </a:t>
            </a:r>
            <a:r>
              <a:rPr lang="en-US" dirty="0" err="1"/>
              <a:t>pozivaju</a:t>
            </a:r>
            <a:r>
              <a:rPr lang="en-US" dirty="0"/>
              <a:t> </a:t>
            </a:r>
            <a:r>
              <a:rPr lang="en-US" dirty="0" err="1"/>
              <a:t>internu</a:t>
            </a:r>
            <a:r>
              <a:rPr lang="en-US" dirty="0"/>
              <a:t> </a:t>
            </a:r>
            <a:r>
              <a:rPr lang="en-US" dirty="0" err="1"/>
              <a:t>logiku</a:t>
            </a:r>
            <a:r>
              <a:rPr lang="en-US" dirty="0"/>
              <a:t> </a:t>
            </a:r>
            <a:r>
              <a:rPr lang="en-US" dirty="0" err="1"/>
              <a:t>biblioteke</a:t>
            </a:r>
            <a:r>
              <a:rPr lang="en-US" dirty="0"/>
              <a:t> </a:t>
            </a:r>
            <a:r>
              <a:rPr lang="en-US" dirty="0" err="1"/>
              <a:t>LibTorch</a:t>
            </a:r>
            <a:r>
              <a:rPr lang="en-US" dirty="0"/>
              <a:t>. </a:t>
            </a:r>
            <a:r>
              <a:rPr lang="en-US" dirty="0" err="1"/>
              <a:t>LibTorch</a:t>
            </a:r>
            <a:r>
              <a:rPr lang="en-US" dirty="0"/>
              <a:t> je </a:t>
            </a:r>
            <a:r>
              <a:rPr lang="en-US" dirty="0" err="1"/>
              <a:t>napisana</a:t>
            </a:r>
            <a:r>
              <a:rPr lang="en-US" dirty="0"/>
              <a:t> u C++ u </a:t>
            </a:r>
            <a:r>
              <a:rPr lang="en-US" dirty="0" err="1"/>
              <a:t>kojoj</a:t>
            </a:r>
            <a:r>
              <a:rPr lang="en-US" dirty="0"/>
              <a:t> se </a:t>
            </a:r>
            <a:r>
              <a:rPr lang="en-US" dirty="0" err="1"/>
              <a:t>izvršava</a:t>
            </a:r>
            <a:r>
              <a:rPr lang="en-US" dirty="0"/>
              <a:t> </a:t>
            </a:r>
            <a:r>
              <a:rPr lang="en-US" dirty="0" err="1"/>
              <a:t>logika</a:t>
            </a:r>
            <a:r>
              <a:rPr lang="en-US" dirty="0"/>
              <a:t> </a:t>
            </a:r>
            <a:r>
              <a:rPr lang="en-US" dirty="0" err="1"/>
              <a:t>prilikom</a:t>
            </a:r>
            <a:r>
              <a:rPr lang="en-US" dirty="0"/>
              <a:t> </a:t>
            </a:r>
            <a:r>
              <a:rPr lang="en-US" dirty="0" err="1"/>
              <a:t>treniranja</a:t>
            </a:r>
            <a:r>
              <a:rPr lang="en-US" dirty="0"/>
              <a:t>.</a:t>
            </a:r>
          </a:p>
          <a:p>
            <a:r>
              <a:rPr lang="en-US" dirty="0" err="1"/>
              <a:t>Kako</a:t>
            </a:r>
            <a:r>
              <a:rPr lang="en-US" dirty="0"/>
              <a:t> </a:t>
            </a:r>
            <a:r>
              <a:rPr lang="en-US" dirty="0" err="1"/>
              <a:t>obje</a:t>
            </a:r>
            <a:r>
              <a:rPr lang="en-US" dirty="0"/>
              <a:t> date </a:t>
            </a:r>
            <a:r>
              <a:rPr lang="en-US" dirty="0" err="1"/>
              <a:t>biblioteke</a:t>
            </a:r>
            <a:r>
              <a:rPr lang="en-US" dirty="0"/>
              <a:t> </a:t>
            </a:r>
            <a:r>
              <a:rPr lang="en-US" dirty="0" err="1"/>
              <a:t>koriste</a:t>
            </a:r>
            <a:r>
              <a:rPr lang="en-US" dirty="0"/>
              <a:t> </a:t>
            </a:r>
            <a:r>
              <a:rPr lang="en-US" dirty="0" err="1"/>
              <a:t>istu</a:t>
            </a:r>
            <a:r>
              <a:rPr lang="en-US" dirty="0"/>
              <a:t> </a:t>
            </a:r>
            <a:r>
              <a:rPr lang="en-US" dirty="0" err="1"/>
              <a:t>pozadinsku</a:t>
            </a:r>
            <a:r>
              <a:rPr lang="en-US" dirty="0"/>
              <a:t> </a:t>
            </a:r>
            <a:r>
              <a:rPr lang="en-US" dirty="0" err="1"/>
              <a:t>logiku</a:t>
            </a:r>
            <a:r>
              <a:rPr lang="en-US" dirty="0"/>
              <a:t>, </a:t>
            </a:r>
            <a:r>
              <a:rPr lang="en-US" dirty="0" err="1"/>
              <a:t>odabir</a:t>
            </a:r>
            <a:r>
              <a:rPr lang="en-US" dirty="0"/>
              <a:t> Python I .NET </a:t>
            </a:r>
            <a:r>
              <a:rPr lang="en-US" dirty="0" err="1"/>
              <a:t>ekosistema</a:t>
            </a:r>
            <a:r>
              <a:rPr lang="en-US" dirty="0"/>
              <a:t> za </a:t>
            </a:r>
            <a:r>
              <a:rPr lang="en-US" dirty="0" err="1"/>
              <a:t>rješavanja</a:t>
            </a:r>
            <a:r>
              <a:rPr lang="en-US" dirty="0"/>
              <a:t> </a:t>
            </a:r>
            <a:r>
              <a:rPr lang="en-US" dirty="0" err="1"/>
              <a:t>datog</a:t>
            </a:r>
            <a:r>
              <a:rPr lang="en-US" dirty="0"/>
              <a:t> </a:t>
            </a:r>
            <a:r>
              <a:rPr lang="en-US" dirty="0" err="1"/>
              <a:t>problema</a:t>
            </a:r>
            <a:r>
              <a:rPr lang="en-US" dirty="0"/>
              <a:t> bi </a:t>
            </a:r>
            <a:r>
              <a:rPr lang="en-US" dirty="0" err="1"/>
              <a:t>teoretski</a:t>
            </a:r>
            <a:r>
              <a:rPr lang="en-US" dirty="0"/>
              <a:t> </a:t>
            </a:r>
            <a:r>
              <a:rPr lang="en-US" dirty="0" err="1"/>
              <a:t>trebalo</a:t>
            </a:r>
            <a:r>
              <a:rPr lang="en-US" dirty="0"/>
              <a:t> </a:t>
            </a:r>
            <a:r>
              <a:rPr lang="en-US" dirty="0" err="1"/>
              <a:t>biti</a:t>
            </a:r>
            <a:r>
              <a:rPr lang="en-US" dirty="0"/>
              <a:t> </a:t>
            </a:r>
            <a:r>
              <a:rPr lang="en-US" dirty="0" err="1"/>
              <a:t>veoma</a:t>
            </a:r>
            <a:r>
              <a:rPr lang="en-US" dirty="0"/>
              <a:t> </a:t>
            </a:r>
            <a:r>
              <a:rPr lang="en-US" dirty="0" err="1"/>
              <a:t>slično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50117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6A35C-F492-465D-B8E4-9484DDBCD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84342"/>
            <a:ext cx="3932237" cy="614218"/>
          </a:xfrm>
        </p:spPr>
        <p:txBody>
          <a:bodyPr/>
          <a:lstStyle/>
          <a:p>
            <a:r>
              <a:rPr lang="en-US" dirty="0" err="1"/>
              <a:t>Arhitektura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0DC994-20B6-4350-BF13-D82EBFDEB5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865745"/>
            <a:ext cx="3932237" cy="4003243"/>
          </a:xfrm>
        </p:spPr>
        <p:txBody>
          <a:bodyPr/>
          <a:lstStyle/>
          <a:p>
            <a:r>
              <a:rPr lang="en-US" dirty="0" err="1"/>
              <a:t>Sistem</a:t>
            </a:r>
            <a:r>
              <a:rPr lang="en-US" dirty="0"/>
              <a:t> je </a:t>
            </a:r>
            <a:r>
              <a:rPr lang="en-US" dirty="0" err="1"/>
              <a:t>organiziran</a:t>
            </a:r>
            <a:r>
              <a:rPr lang="en-US" dirty="0"/>
              <a:t> </a:t>
            </a:r>
            <a:r>
              <a:rPr lang="en-US" dirty="0" err="1"/>
              <a:t>uz</a:t>
            </a:r>
            <a:r>
              <a:rPr lang="en-US" dirty="0"/>
              <a:t> </a:t>
            </a:r>
            <a:r>
              <a:rPr lang="en-US" dirty="0" err="1"/>
              <a:t>pomo</a:t>
            </a:r>
            <a:r>
              <a:rPr lang="bs-Latn-BA" dirty="0"/>
              <a:t>ć .NET Aspire koji povezuje oba okruženja I web interfejs.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s-Latn-BA" dirty="0"/>
              <a:t>C# Web Api</a:t>
            </a:r>
            <a:r>
              <a:rPr lang="en-US" dirty="0"/>
              <a:t>(</a:t>
            </a:r>
            <a:r>
              <a:rPr lang="en-US" dirty="0" err="1"/>
              <a:t>apiservice</a:t>
            </a:r>
            <a:r>
              <a:rPr lang="en-US" dirty="0"/>
              <a:t>): </a:t>
            </a:r>
            <a:r>
              <a:rPr lang="de-DE" dirty="0"/>
              <a:t>Slu</a:t>
            </a:r>
            <a:r>
              <a:rPr lang="bs-Latn-BA" dirty="0"/>
              <a:t>ži za treniranje C# modela, analizu te sačuvanju podataka u SQLite bazu podataka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s-Latn-BA" dirty="0"/>
              <a:t>Python Fast API</a:t>
            </a:r>
            <a:r>
              <a:rPr lang="en-US" dirty="0"/>
              <a:t>(python-</a:t>
            </a:r>
            <a:r>
              <a:rPr lang="en-US" dirty="0" err="1"/>
              <a:t>api</a:t>
            </a:r>
            <a:r>
              <a:rPr lang="en-US" dirty="0"/>
              <a:t>)</a:t>
            </a:r>
            <a:r>
              <a:rPr lang="bs-Latn-BA" dirty="0"/>
              <a:t>: Služi za treniranje Python modela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Blazor</a:t>
            </a:r>
            <a:r>
              <a:rPr lang="en-US" dirty="0"/>
              <a:t> Server(</a:t>
            </a:r>
            <a:r>
              <a:rPr lang="en-US" dirty="0" err="1"/>
              <a:t>webfrontend</a:t>
            </a:r>
            <a:r>
              <a:rPr lang="en-US" dirty="0"/>
              <a:t>)</a:t>
            </a:r>
            <a:r>
              <a:rPr lang="bs-Latn-BA" dirty="0"/>
              <a:t>: Služi za prikaz UI aplikacije te mogućnost treniranja novih modela, analizu uz postojeće modele, pregled i brisanje te uporedba performansi modela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bs-Latn-BA" dirty="0"/>
          </a:p>
          <a:p>
            <a:pPr marL="285750" indent="-285750">
              <a:buFontTx/>
              <a:buChar char="-"/>
            </a:pPr>
            <a:endParaRPr lang="bs-Latn-B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A52407-54AF-40F2-A8D1-D2733E61C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025" y="884342"/>
            <a:ext cx="6735115" cy="4706007"/>
          </a:xfrm>
          <a:prstGeom prst="roundRect">
            <a:avLst>
              <a:gd name="adj" fmla="val 9209"/>
            </a:avLst>
          </a:prstGeom>
        </p:spPr>
      </p:pic>
    </p:spTree>
    <p:extLst>
      <p:ext uri="{BB962C8B-B14F-4D97-AF65-F5344CB8AC3E}">
        <p14:creationId xmlns:p14="http://schemas.microsoft.com/office/powerpoint/2010/main" val="2405284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58A7F-1010-491C-BFF6-2A9034622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610753" cy="1600200"/>
          </a:xfrm>
        </p:spPr>
        <p:txBody>
          <a:bodyPr/>
          <a:lstStyle/>
          <a:p>
            <a:r>
              <a:rPr lang="en-US" dirty="0" err="1"/>
              <a:t>Uporedba</a:t>
            </a:r>
            <a:r>
              <a:rPr lang="en-US" dirty="0"/>
              <a:t> </a:t>
            </a:r>
            <a:r>
              <a:rPr lang="en-US" dirty="0" err="1"/>
              <a:t>rezultata</a:t>
            </a:r>
            <a:r>
              <a:rPr lang="en-US" dirty="0"/>
              <a:t>: </a:t>
            </a:r>
            <a:r>
              <a:rPr lang="en-US" dirty="0" err="1"/>
              <a:t>Odziv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CEF3B-39E0-42A6-8CA7-9A6660D2F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5012" y="987425"/>
            <a:ext cx="5770376" cy="4873625"/>
          </a:xfrm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D1015D11-8193-46C8-9F1E-A086BF9A93F7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839788" y="2057400"/>
                <a:ext cx="4610753" cy="3811588"/>
              </a:xfrm>
            </p:spPr>
            <p:txBody>
              <a:bodyPr/>
              <a:lstStyle/>
              <a:p>
                <a:r>
                  <a:rPr lang="en-US" b="1" dirty="0" err="1"/>
                  <a:t>Odziv</a:t>
                </a:r>
                <a:r>
                  <a:rPr lang="en-US" b="1" dirty="0"/>
                  <a:t> / </a:t>
                </a:r>
                <a:r>
                  <a:rPr lang="en-US" b="1" dirty="0" err="1"/>
                  <a:t>Osjetljivost</a:t>
                </a:r>
                <a:r>
                  <a:rPr lang="en-US" b="1" dirty="0"/>
                  <a:t> (Recall):</a:t>
                </a:r>
                <a:r>
                  <a:rPr lang="en-US" dirty="0"/>
                  <a:t> </a:t>
                </a:r>
                <a:r>
                  <a:rPr lang="en-US" dirty="0" err="1"/>
                  <a:t>Najvažnija</a:t>
                </a:r>
                <a:r>
                  <a:rPr lang="en-US" dirty="0"/>
                  <a:t> </a:t>
                </a:r>
                <a:r>
                  <a:rPr lang="en-US" dirty="0" err="1"/>
                  <a:t>metrika</a:t>
                </a:r>
                <a:r>
                  <a:rPr lang="en-US" dirty="0"/>
                  <a:t> u </a:t>
                </a:r>
                <a:r>
                  <a:rPr lang="en-US" dirty="0" err="1"/>
                  <a:t>medicinskoj</a:t>
                </a:r>
                <a:r>
                  <a:rPr lang="en-US" dirty="0"/>
                  <a:t> </a:t>
                </a:r>
                <a:r>
                  <a:rPr lang="en-US" dirty="0" err="1"/>
                  <a:t>dijagnostici</a:t>
                </a:r>
                <a:r>
                  <a:rPr lang="en-US" dirty="0"/>
                  <a:t>. </a:t>
                </a:r>
                <a:r>
                  <a:rPr lang="en-US" dirty="0" err="1"/>
                  <a:t>Mjeri</a:t>
                </a:r>
                <a:r>
                  <a:rPr lang="en-US" dirty="0"/>
                  <a:t> </a:t>
                </a:r>
                <a:r>
                  <a:rPr lang="en-US" dirty="0" err="1"/>
                  <a:t>procenat</a:t>
                </a:r>
                <a:r>
                  <a:rPr lang="en-US" dirty="0"/>
                  <a:t> </a:t>
                </a:r>
                <a:r>
                  <a:rPr lang="en-US" dirty="0" err="1"/>
                  <a:t>stvarnih</a:t>
                </a:r>
                <a:r>
                  <a:rPr lang="en-US" dirty="0"/>
                  <a:t> </a:t>
                </a:r>
                <a:r>
                  <a:rPr lang="en-US" dirty="0" err="1"/>
                  <a:t>slučajeva</a:t>
                </a:r>
                <a:r>
                  <a:rPr lang="en-US" dirty="0"/>
                  <a:t> </a:t>
                </a:r>
                <a:r>
                  <a:rPr lang="en-US" dirty="0" err="1"/>
                  <a:t>raka</a:t>
                </a:r>
                <a:r>
                  <a:rPr lang="en-US" dirty="0"/>
                  <a:t> </a:t>
                </a:r>
                <a:r>
                  <a:rPr lang="en-US" dirty="0" err="1"/>
                  <a:t>koje</a:t>
                </a:r>
                <a:r>
                  <a:rPr lang="en-US" dirty="0"/>
                  <a:t> je model </a:t>
                </a:r>
                <a:r>
                  <a:rPr lang="en-US" dirty="0" err="1"/>
                  <a:t>uspješno</a:t>
                </a:r>
                <a:r>
                  <a:rPr lang="en-US" dirty="0"/>
                  <a:t> </a:t>
                </a:r>
                <a:r>
                  <a:rPr lang="en-US" dirty="0" err="1"/>
                  <a:t>pronašao</a:t>
                </a:r>
                <a:r>
                  <a:rPr lang="en-US" dirty="0"/>
                  <a:t>. </a:t>
                </a:r>
                <a:r>
                  <a:rPr lang="en-US" dirty="0" err="1"/>
                  <a:t>Cilj</a:t>
                </a:r>
                <a:r>
                  <a:rPr lang="en-US" dirty="0"/>
                  <a:t> je </a:t>
                </a:r>
                <a:r>
                  <a:rPr lang="en-US" dirty="0" err="1"/>
                  <a:t>minimizirati</a:t>
                </a:r>
                <a:r>
                  <a:rPr lang="en-US" dirty="0"/>
                  <a:t> </a:t>
                </a:r>
                <a:r>
                  <a:rPr lang="en-US" dirty="0" err="1"/>
                  <a:t>lažno</a:t>
                </a:r>
                <a:r>
                  <a:rPr lang="en-US" dirty="0"/>
                  <a:t> </a:t>
                </a:r>
                <a:r>
                  <a:rPr lang="en-US" dirty="0" err="1"/>
                  <a:t>negativne</a:t>
                </a:r>
                <a:r>
                  <a:rPr lang="en-US" dirty="0"/>
                  <a:t> </a:t>
                </a:r>
                <a:r>
                  <a:rPr lang="en-US" dirty="0" err="1"/>
                  <a:t>rezultate</a:t>
                </a:r>
                <a:r>
                  <a:rPr lang="en-US" dirty="0"/>
                  <a:t> (</a:t>
                </a:r>
                <a:r>
                  <a:rPr lang="en-US" dirty="0" err="1"/>
                  <a:t>propuštene</a:t>
                </a:r>
                <a:r>
                  <a:rPr lang="en-US" dirty="0"/>
                  <a:t> </a:t>
                </a:r>
                <a:r>
                  <a:rPr lang="en-US" dirty="0" err="1"/>
                  <a:t>dijagnoze</a:t>
                </a:r>
                <a:r>
                  <a:rPr lang="en-US" dirty="0"/>
                  <a:t>).</a:t>
                </a:r>
              </a:p>
              <a:p>
                <a:endParaRPr lang="en-US" dirty="0"/>
              </a:p>
              <a:p>
                <a:r>
                  <a:rPr lang="en-US" dirty="0" err="1"/>
                  <a:t>Odziv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i="1" smtClean="0">
                        <a:latin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D1015D11-8193-46C8-9F1E-A086BF9A93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839788" y="2057400"/>
                <a:ext cx="4610753" cy="3811588"/>
              </a:xfrm>
              <a:blipFill>
                <a:blip r:embed="rId2"/>
                <a:stretch>
                  <a:fillRect l="-794" t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360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76C1C-E291-4624-99D2-06E92328B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Uporedba</a:t>
            </a:r>
            <a:r>
              <a:rPr lang="en-US" dirty="0"/>
              <a:t> </a:t>
            </a:r>
            <a:r>
              <a:rPr lang="en-US" dirty="0" err="1"/>
              <a:t>rezultata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67341-0E32-4231-8CF8-8A4706985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dirty="0"/>
              <a:t>Da </a:t>
            </a:r>
            <a:r>
              <a:rPr lang="en-US" sz="1200" dirty="0" err="1"/>
              <a:t>bismo</a:t>
            </a:r>
            <a:r>
              <a:rPr lang="en-US" sz="1200" dirty="0"/>
              <a:t> </a:t>
            </a:r>
            <a:r>
              <a:rPr lang="en-US" sz="1200" dirty="0" err="1"/>
              <a:t>bili</a:t>
            </a:r>
            <a:r>
              <a:rPr lang="en-US" sz="1200" dirty="0"/>
              <a:t> u </a:t>
            </a:r>
            <a:r>
              <a:rPr lang="en-US" sz="1200" dirty="0" err="1"/>
              <a:t>mogu</a:t>
            </a:r>
            <a:r>
              <a:rPr lang="bs-Latn-BA" sz="1200" dirty="0"/>
              <a:t>ćnosti da upoređujemo modele mašinskog učenja koristimo par zajedničkih metrika poput odziva, preciznost i f1 skora. Da bismo ove metrike mogli izračunati moramo prvo definisati određene parametre koji će nam pomoći prilikom računanja datih metrika.</a:t>
            </a:r>
          </a:p>
          <a:p>
            <a:pPr marL="0" indent="0">
              <a:buNone/>
            </a:pPr>
            <a:r>
              <a:rPr lang="bs-Latn-BA" sz="1200" dirty="0"/>
              <a:t> - True Positive ili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01522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2603</TotalTime>
  <Words>446</Words>
  <Application>Microsoft Office PowerPoint</Application>
  <PresentationFormat>Widescreen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Times New Roman</vt:lpstr>
      <vt:lpstr>Office Theme</vt:lpstr>
      <vt:lpstr> Uporedna analiza Python i .NET okruženja za treniranje modela dubokog učenja na primjeru detekcije raka pluća</vt:lpstr>
      <vt:lpstr>Cilj rada</vt:lpstr>
      <vt:lpstr>Opis problema</vt:lpstr>
      <vt:lpstr>Implementacija </vt:lpstr>
      <vt:lpstr>Arhitektura</vt:lpstr>
      <vt:lpstr>Uporedba rezultata: Odziv</vt:lpstr>
      <vt:lpstr>Uporedba rezultata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Komparativna analiza ML metodologija</dc:title>
  <dc:creator>Administrator</dc:creator>
  <cp:lastModifiedBy>Administrator</cp:lastModifiedBy>
  <cp:revision>19</cp:revision>
  <dcterms:created xsi:type="dcterms:W3CDTF">2026-05-21T11:24:01Z</dcterms:created>
  <dcterms:modified xsi:type="dcterms:W3CDTF">2026-08-17T15:46:08Z</dcterms:modified>
</cp:coreProperties>
</file>