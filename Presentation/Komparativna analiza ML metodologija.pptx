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70" r:id="rId3"/>
    <p:sldId id="262" r:id="rId4"/>
    <p:sldId id="266" r:id="rId5"/>
    <p:sldId id="267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C"/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6121" autoAdjust="0"/>
  </p:normalViewPr>
  <p:slideViewPr>
    <p:cSldViewPr snapToGrid="0">
      <p:cViewPr varScale="1">
        <p:scale>
          <a:sx n="87" d="100"/>
          <a:sy n="87" d="100"/>
        </p:scale>
        <p:origin x="241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5A90D3-49B2-4DF6-BAF7-8B743C4BA0C6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0A785-91A4-4858-91F9-18C65D64E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4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dirty="0"/>
              <a:t>Graf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koliko</a:t>
            </a:r>
            <a:r>
              <a:rPr lang="en-US" dirty="0"/>
              <a:t> Python </a:t>
            </a:r>
            <a:r>
              <a:rPr lang="en-US" dirty="0" err="1"/>
              <a:t>dominira</a:t>
            </a:r>
            <a:r>
              <a:rPr lang="en-US" dirty="0"/>
              <a:t> u </a:t>
            </a:r>
            <a:r>
              <a:rPr lang="en-US" dirty="0" err="1"/>
              <a:t>području</a:t>
            </a:r>
            <a:r>
              <a:rPr lang="en-US" dirty="0"/>
              <a:t> </a:t>
            </a:r>
            <a:r>
              <a:rPr lang="en-US" dirty="0" err="1"/>
              <a:t>mašinskog</a:t>
            </a:r>
            <a:r>
              <a:rPr lang="en-US" dirty="0"/>
              <a:t> </a:t>
            </a:r>
            <a:r>
              <a:rPr lang="en-US" dirty="0" err="1"/>
              <a:t>učenja</a:t>
            </a:r>
            <a:r>
              <a:rPr lang="en-US" dirty="0"/>
              <a:t>.</a:t>
            </a:r>
          </a:p>
          <a:p>
            <a:pPr rtl="0"/>
            <a:r>
              <a:rPr lang="en-US" dirty="0" err="1"/>
              <a:t>Dodatna</a:t>
            </a:r>
            <a:r>
              <a:rPr lang="en-US" dirty="0"/>
              <a:t> </a:t>
            </a:r>
            <a:r>
              <a:rPr lang="en-US" dirty="0" err="1"/>
              <a:t>kompleksnost</a:t>
            </a:r>
            <a:r>
              <a:rPr lang="en-US" dirty="0"/>
              <a:t> </a:t>
            </a:r>
            <a:r>
              <a:rPr lang="en-US" dirty="0" err="1"/>
              <a:t>odnosi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uvođenje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jednog</a:t>
            </a:r>
            <a:r>
              <a:rPr lang="en-US" dirty="0"/>
              <a:t> </a:t>
            </a:r>
            <a:r>
              <a:rPr lang="en-US" dirty="0" err="1"/>
              <a:t>programskog</a:t>
            </a:r>
            <a:r>
              <a:rPr lang="en-US" dirty="0"/>
              <a:t> </a:t>
            </a:r>
            <a:r>
              <a:rPr lang="en-US" dirty="0" err="1"/>
              <a:t>jezika</a:t>
            </a:r>
            <a:r>
              <a:rPr lang="en-US" dirty="0"/>
              <a:t> u </a:t>
            </a:r>
            <a:r>
              <a:rPr lang="en-US" dirty="0" err="1"/>
              <a:t>postojeći</a:t>
            </a:r>
            <a:r>
              <a:rPr lang="en-US" dirty="0"/>
              <a:t> </a:t>
            </a:r>
            <a:r>
              <a:rPr lang="en-US" dirty="0" err="1"/>
              <a:t>ekosistem</a:t>
            </a:r>
            <a:r>
              <a:rPr lang="en-US" dirty="0"/>
              <a:t>. To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komunikacijski</a:t>
            </a:r>
            <a:r>
              <a:rPr lang="en-US" dirty="0"/>
              <a:t> </a:t>
            </a:r>
            <a:r>
              <a:rPr lang="en-US" dirty="0" err="1"/>
              <a:t>sloj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postojećeg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novog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(REST, </a:t>
            </a:r>
            <a:r>
              <a:rPr lang="en-US" dirty="0" err="1"/>
              <a:t>gRPC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IPC) </a:t>
            </a:r>
            <a:r>
              <a:rPr lang="en-US" dirty="0" err="1"/>
              <a:t>umjesto</a:t>
            </a:r>
            <a:r>
              <a:rPr lang="en-US" dirty="0"/>
              <a:t> </a:t>
            </a:r>
            <a:r>
              <a:rPr lang="en-US" dirty="0" err="1"/>
              <a:t>direktnog</a:t>
            </a:r>
            <a:r>
              <a:rPr lang="en-US" dirty="0"/>
              <a:t> </a:t>
            </a:r>
            <a:r>
              <a:rPr lang="en-US" dirty="0" err="1"/>
              <a:t>poziva</a:t>
            </a:r>
            <a:r>
              <a:rPr lang="en-US" dirty="0"/>
              <a:t> u </a:t>
            </a:r>
            <a:r>
              <a:rPr lang="en-US" dirty="0" err="1"/>
              <a:t>istom</a:t>
            </a:r>
            <a:r>
              <a:rPr lang="en-US" dirty="0"/>
              <a:t> </a:t>
            </a:r>
            <a:r>
              <a:rPr lang="en-US" dirty="0" err="1"/>
              <a:t>procesu</a:t>
            </a:r>
            <a:r>
              <a:rPr lang="en-US" dirty="0"/>
              <a:t>.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drugi</a:t>
            </a:r>
            <a:r>
              <a:rPr lang="en-US" dirty="0"/>
              <a:t> runtime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drugi</a:t>
            </a:r>
            <a:r>
              <a:rPr lang="en-US" dirty="0"/>
              <a:t> </a:t>
            </a:r>
            <a:r>
              <a:rPr lang="en-US" dirty="0" err="1"/>
              <a:t>lanac</a:t>
            </a:r>
            <a:r>
              <a:rPr lang="en-US" dirty="0"/>
              <a:t> </a:t>
            </a:r>
            <a:r>
              <a:rPr lang="en-US" dirty="0" err="1"/>
              <a:t>zavisnosti</a:t>
            </a:r>
            <a:r>
              <a:rPr lang="en-US" dirty="0"/>
              <a:t> — pip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pored NuGet-a —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odvojen</a:t>
            </a:r>
            <a:r>
              <a:rPr lang="en-US" dirty="0"/>
              <a:t> deployment </a:t>
            </a:r>
            <a:r>
              <a:rPr lang="en-US" dirty="0" err="1"/>
              <a:t>i</a:t>
            </a:r>
            <a:r>
              <a:rPr lang="en-US" dirty="0"/>
              <a:t> CI. Na </a:t>
            </a:r>
            <a:r>
              <a:rPr lang="en-US" dirty="0" err="1"/>
              <a:t>kraju</a:t>
            </a:r>
            <a:r>
              <a:rPr lang="en-US" dirty="0"/>
              <a:t>,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 da </a:t>
            </a:r>
            <a:r>
              <a:rPr lang="en-US" dirty="0" err="1"/>
              <a:t>postojeći</a:t>
            </a:r>
            <a:r>
              <a:rPr lang="en-US" dirty="0"/>
              <a:t> </a:t>
            </a:r>
            <a:r>
              <a:rPr lang="en-US" dirty="0" err="1"/>
              <a:t>developeri</a:t>
            </a:r>
            <a:r>
              <a:rPr lang="en-US" dirty="0"/>
              <a:t> </a:t>
            </a:r>
            <a:r>
              <a:rPr lang="en-US" dirty="0" err="1"/>
              <a:t>nauče</a:t>
            </a:r>
            <a:r>
              <a:rPr lang="en-US" dirty="0"/>
              <a:t> Python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zapošljavanje</a:t>
            </a:r>
            <a:r>
              <a:rPr lang="en-US" dirty="0"/>
              <a:t> </a:t>
            </a:r>
            <a:r>
              <a:rPr lang="en-US" dirty="0" err="1"/>
              <a:t>novih</a:t>
            </a:r>
            <a:r>
              <a:rPr lang="en-US" dirty="0"/>
              <a:t>. </a:t>
            </a:r>
            <a:r>
              <a:rPr lang="en-US" dirty="0" err="1"/>
              <a:t>Čitava</a:t>
            </a:r>
            <a:r>
              <a:rPr lang="en-US" dirty="0"/>
              <a:t> ta </a:t>
            </a:r>
            <a:r>
              <a:rPr lang="en-US" dirty="0" err="1"/>
              <a:t>integracija</a:t>
            </a:r>
            <a:r>
              <a:rPr lang="en-US" dirty="0"/>
              <a:t> </a:t>
            </a:r>
            <a:r>
              <a:rPr lang="en-US" dirty="0" err="1"/>
              <a:t>košta</a:t>
            </a:r>
            <a:r>
              <a:rPr lang="en-US" dirty="0"/>
              <a:t>. </a:t>
            </a:r>
            <a:r>
              <a:rPr lang="en-US" dirty="0" err="1"/>
              <a:t>Ako</a:t>
            </a:r>
            <a:r>
              <a:rPr lang="en-US" dirty="0"/>
              <a:t> se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zadržati</a:t>
            </a:r>
            <a:r>
              <a:rPr lang="en-US" dirty="0"/>
              <a:t> u </a:t>
            </a:r>
            <a:r>
              <a:rPr lang="en-US" dirty="0" err="1"/>
              <a:t>istom</a:t>
            </a:r>
            <a:r>
              <a:rPr lang="en-US" dirty="0"/>
              <a:t> </a:t>
            </a:r>
            <a:r>
              <a:rPr lang="en-US" dirty="0" err="1"/>
              <a:t>ekosistemu</a:t>
            </a:r>
            <a:r>
              <a:rPr lang="en-US" dirty="0"/>
              <a:t>, </a:t>
            </a:r>
            <a:r>
              <a:rPr lang="en-US" dirty="0" err="1"/>
              <a:t>tih</a:t>
            </a:r>
            <a:r>
              <a:rPr lang="en-US" dirty="0"/>
              <a:t> </a:t>
            </a:r>
            <a:r>
              <a:rPr lang="en-US" dirty="0" err="1"/>
              <a:t>troškova</a:t>
            </a:r>
            <a:r>
              <a:rPr lang="en-US" dirty="0"/>
              <a:t> </a:t>
            </a:r>
            <a:r>
              <a:rPr lang="en-US" dirty="0" err="1"/>
              <a:t>nema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1559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implementacije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mjereno</a:t>
            </a:r>
            <a:r>
              <a:rPr lang="en-US" dirty="0"/>
              <a:t> </a:t>
            </a:r>
            <a:r>
              <a:rPr lang="en-US" dirty="0" err="1"/>
              <a:t>brojčano</a:t>
            </a:r>
            <a:r>
              <a:rPr lang="en-US" dirty="0"/>
              <a:t>,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kvalitativno</a:t>
            </a:r>
            <a:r>
              <a:rPr lang="en-US" dirty="0"/>
              <a:t>,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razvojno</a:t>
            </a:r>
            <a:r>
              <a:rPr lang="en-US" dirty="0"/>
              <a:t> </a:t>
            </a:r>
            <a:r>
              <a:rPr lang="en-US" dirty="0" err="1"/>
              <a:t>iskustvo</a:t>
            </a:r>
            <a:r>
              <a:rPr lang="en-US" dirty="0"/>
              <a:t>: za </a:t>
            </a:r>
            <a:r>
              <a:rPr lang="en-US" dirty="0" err="1"/>
              <a:t>PyTorch</a:t>
            </a:r>
            <a:r>
              <a:rPr lang="en-US" dirty="0"/>
              <a:t> je </a:t>
            </a:r>
            <a:r>
              <a:rPr lang="en-US" dirty="0" err="1"/>
              <a:t>referentna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 </a:t>
            </a:r>
            <a:r>
              <a:rPr lang="en-US" dirty="0" err="1"/>
              <a:t>postojala</a:t>
            </a:r>
            <a:r>
              <a:rPr lang="en-US" dirty="0"/>
              <a:t> u </a:t>
            </a:r>
            <a:r>
              <a:rPr lang="en-US" dirty="0" err="1"/>
              <a:t>zvaničnoj</a:t>
            </a:r>
            <a:r>
              <a:rPr lang="en-US" dirty="0"/>
              <a:t> </a:t>
            </a:r>
            <a:r>
              <a:rPr lang="en-US" dirty="0" err="1"/>
              <a:t>dokumentaciji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tutorijalima</a:t>
            </a:r>
            <a:r>
              <a:rPr lang="en-US" dirty="0"/>
              <a:t>. Za </a:t>
            </a:r>
            <a:r>
              <a:rPr lang="en-US" dirty="0" err="1"/>
              <a:t>TorchSharp</a:t>
            </a:r>
            <a:r>
              <a:rPr lang="en-US" dirty="0"/>
              <a:t> za [</a:t>
            </a:r>
            <a:r>
              <a:rPr lang="en-US" dirty="0" err="1"/>
              <a:t>konkretno</a:t>
            </a:r>
            <a:r>
              <a:rPr lang="en-US" dirty="0"/>
              <a:t> X]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primjera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zvaničnom</a:t>
            </a:r>
            <a:r>
              <a:rPr lang="en-US" dirty="0"/>
              <a:t> </a:t>
            </a:r>
            <a:r>
              <a:rPr lang="en-US" dirty="0" err="1"/>
              <a:t>repozitoriju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dokumentaciji</a:t>
            </a:r>
            <a:r>
              <a:rPr lang="en-US" dirty="0"/>
              <a:t>, pa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rješenje</a:t>
            </a:r>
            <a:r>
              <a:rPr lang="en-US" dirty="0"/>
              <a:t> </a:t>
            </a:r>
            <a:r>
              <a:rPr lang="en-US" dirty="0" err="1"/>
              <a:t>rekonstruisao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stranom</a:t>
            </a:r>
            <a:r>
              <a:rPr lang="en-US" dirty="0"/>
              <a:t> </a:t>
            </a:r>
            <a:r>
              <a:rPr lang="en-US" dirty="0" err="1"/>
              <a:t>jeziku</a:t>
            </a:r>
            <a:r>
              <a:rPr lang="en-US" dirty="0"/>
              <a:t>.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u </a:t>
            </a:r>
            <a:r>
              <a:rPr lang="en-US" dirty="0" err="1"/>
              <a:t>jeziku</a:t>
            </a:r>
            <a:r>
              <a:rPr lang="en-US" dirty="0"/>
              <a:t>, </a:t>
            </a:r>
            <a:r>
              <a:rPr lang="en-US" dirty="0" err="1"/>
              <a:t>nego</a:t>
            </a:r>
            <a:r>
              <a:rPr lang="en-US" dirty="0"/>
              <a:t> u </a:t>
            </a:r>
            <a:r>
              <a:rPr lang="en-US" dirty="0" err="1"/>
              <a:t>dostupnosti</a:t>
            </a:r>
            <a:r>
              <a:rPr lang="en-US" dirty="0"/>
              <a:t> </a:t>
            </a:r>
            <a:r>
              <a:rPr lang="en-US" dirty="0" err="1"/>
              <a:t>materijala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Zašto</a:t>
            </a:r>
            <a:r>
              <a:rPr lang="en-US" dirty="0"/>
              <a:t> </a:t>
            </a:r>
            <a:r>
              <a:rPr lang="en-US" dirty="0" err="1"/>
              <a:t>rak</a:t>
            </a:r>
            <a:r>
              <a:rPr lang="en-US" dirty="0"/>
              <a:t> </a:t>
            </a:r>
            <a:r>
              <a:rPr lang="en-US" dirty="0" err="1"/>
              <a:t>pluća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Dataset je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označen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uslov</a:t>
            </a:r>
            <a:r>
              <a:rPr lang="en-US" dirty="0"/>
              <a:t> za </a:t>
            </a:r>
            <a:r>
              <a:rPr lang="en-US" dirty="0" err="1"/>
              <a:t>reproducibilnost</a:t>
            </a:r>
            <a:r>
              <a:rPr lang="en-US" dirty="0"/>
              <a:t>. </a:t>
            </a:r>
            <a:r>
              <a:rPr lang="en-US" dirty="0" err="1"/>
              <a:t>Zadatak</a:t>
            </a:r>
            <a:r>
              <a:rPr lang="en-US" dirty="0"/>
              <a:t> je </a:t>
            </a:r>
            <a:r>
              <a:rPr lang="en-US" dirty="0" err="1"/>
              <a:t>klasifikacija</a:t>
            </a:r>
            <a:r>
              <a:rPr lang="en-US" dirty="0"/>
              <a:t> </a:t>
            </a:r>
            <a:r>
              <a:rPr lang="en-US" dirty="0" err="1"/>
              <a:t>slika</a:t>
            </a:r>
            <a:r>
              <a:rPr lang="en-US" dirty="0"/>
              <a:t> u tri </a:t>
            </a:r>
            <a:r>
              <a:rPr lang="en-US" dirty="0" err="1"/>
              <a:t>klase</a:t>
            </a:r>
            <a:r>
              <a:rPr lang="en-US" dirty="0"/>
              <a:t>, </a:t>
            </a:r>
            <a:r>
              <a:rPr lang="en-US" dirty="0" err="1"/>
              <a:t>dakle</a:t>
            </a:r>
            <a:r>
              <a:rPr lang="en-US" dirty="0"/>
              <a:t> CNN je </a:t>
            </a:r>
            <a:r>
              <a:rPr lang="en-US" dirty="0" err="1"/>
              <a:t>prirodan</a:t>
            </a:r>
            <a:r>
              <a:rPr lang="en-US" dirty="0"/>
              <a:t>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se </a:t>
            </a:r>
            <a:r>
              <a:rPr lang="en-US" dirty="0" err="1"/>
              <a:t>bogatije</a:t>
            </a:r>
            <a:r>
              <a:rPr lang="en-US" dirty="0"/>
              <a:t> </a:t>
            </a:r>
            <a:r>
              <a:rPr lang="en-US" dirty="0" err="1"/>
              <a:t>metrike</a:t>
            </a:r>
            <a:r>
              <a:rPr lang="en-US" dirty="0"/>
              <a:t>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binarnog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. </a:t>
            </a:r>
            <a:r>
              <a:rPr lang="en-US" dirty="0" err="1"/>
              <a:t>Veličina</a:t>
            </a:r>
            <a:r>
              <a:rPr lang="en-US" dirty="0"/>
              <a:t> je </a:t>
            </a:r>
            <a:r>
              <a:rPr lang="en-US" dirty="0" err="1"/>
              <a:t>takva</a:t>
            </a:r>
            <a:r>
              <a:rPr lang="en-US" dirty="0"/>
              <a:t> da se </a:t>
            </a:r>
            <a:r>
              <a:rPr lang="en-US" dirty="0" err="1"/>
              <a:t>trening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ponoviti</a:t>
            </a:r>
            <a:r>
              <a:rPr lang="en-US" dirty="0"/>
              <a:t> </a:t>
            </a:r>
            <a:r>
              <a:rPr lang="en-US" dirty="0" err="1"/>
              <a:t>šest</a:t>
            </a:r>
            <a:r>
              <a:rPr lang="en-US" dirty="0"/>
              <a:t> puta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dostupnom</a:t>
            </a:r>
            <a:r>
              <a:rPr lang="en-US" dirty="0"/>
              <a:t> </a:t>
            </a:r>
            <a:r>
              <a:rPr lang="en-US" dirty="0" err="1"/>
              <a:t>hardveru</a:t>
            </a:r>
            <a:r>
              <a:rPr lang="en-US" dirty="0"/>
              <a:t>. I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objavljenih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, pa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mogao</a:t>
            </a:r>
            <a:r>
              <a:rPr lang="en-US" dirty="0"/>
              <a:t> </a:t>
            </a:r>
            <a:r>
              <a:rPr lang="en-US" dirty="0" err="1"/>
              <a:t>provjeriti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moji</a:t>
            </a:r>
            <a:r>
              <a:rPr lang="en-US" dirty="0"/>
              <a:t> </a:t>
            </a:r>
            <a:r>
              <a:rPr lang="en-US" dirty="0" err="1"/>
              <a:t>rezultati</a:t>
            </a:r>
            <a:r>
              <a:rPr lang="en-US" dirty="0"/>
              <a:t> u </a:t>
            </a:r>
            <a:r>
              <a:rPr lang="en-US" dirty="0" err="1"/>
              <a:t>očekivanom</a:t>
            </a:r>
            <a:r>
              <a:rPr lang="en-US" dirty="0"/>
              <a:t> </a:t>
            </a:r>
            <a:r>
              <a:rPr lang="en-US" dirty="0" err="1"/>
              <a:t>rasponu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eventualne</a:t>
            </a:r>
            <a:r>
              <a:rPr lang="en-US" dirty="0"/>
              <a:t>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dolaze</a:t>
            </a:r>
            <a:r>
              <a:rPr lang="en-US" dirty="0"/>
              <a:t> od </a:t>
            </a:r>
            <a:r>
              <a:rPr lang="en-US" dirty="0" err="1"/>
              <a:t>okruženja</a:t>
            </a:r>
            <a:r>
              <a:rPr lang="en-US" dirty="0"/>
              <a:t>, a ne od </a:t>
            </a:r>
            <a:r>
              <a:rPr lang="en-US" dirty="0" err="1"/>
              <a:t>pogrešno</a:t>
            </a:r>
            <a:r>
              <a:rPr lang="en-US" dirty="0"/>
              <a:t> </a:t>
            </a:r>
            <a:r>
              <a:rPr lang="en-US" dirty="0" err="1"/>
              <a:t>postavljenog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</a:t>
            </a:r>
            <a:r>
              <a:rPr lang="en-US"/>
              <a:t>Transfer learning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7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43B6D-3163-47C3-9DB9-B6EA961A8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562C81-D2B1-4B5E-A3B8-82BEAE4F2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02CBA-94DC-4429-A4DD-669E160C5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B2272-A89D-4DA5-B536-D3A04518E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991EB3-BB83-4A04-8DA5-48AC53C32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28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595DC-4846-499A-9AE3-BD42BAC4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B019D-F32C-4F0C-91F6-5233A04EF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ABA5E-8F00-4A33-8387-2D21E48B2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1E93E-323C-42B9-B9CD-9C9246453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F370D-5722-4E2F-9E79-89E6E605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FF12F-2C45-419A-A705-E1A60F14A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AE991-E608-49F4-8BD6-AFA730C6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DC662-FBCD-41BF-A8D6-5CB57FFE1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7C2BE-02A3-4D8A-99C1-5BE0E74E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53542-0F25-4070-A47F-8E6A8EC44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639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3CFD8-ACB2-46C7-9CF3-C9E9B4DA6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8796B-0D0C-4FB4-B9D1-C407ABEF9F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E7CE8F-556F-446F-859D-92BD1A6D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E42BC8-8C0A-4A9C-97AE-D98523FBB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AF4B8-8B65-4D96-8EB4-0A2C8647B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2A9D25-2D13-46A1-9C35-2B47201B2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247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FD9D-1CF7-47DB-8130-FCCA0C41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54DF0-5840-43D0-BFEB-8BD9F9B06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273804-2CC3-4D72-A4C5-0C1FFC10A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96EB3-B331-4C74-B1DF-5BF3D2499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537DC6-D9B3-4B8F-84F0-03CDEB4A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A16214-5154-4548-8C62-75E31BC31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BEB425-358F-44A5-836D-AC35AF849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2706DA-0A0C-4869-93B7-9479174D0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1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471B4-E30C-4F3F-B8A0-7DD6E6B87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2E56A3-1551-41A6-989E-5692F87E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F01AEC-C94D-43F8-97E6-12F4454C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0B8DCC-2BE3-4752-B70C-C0CE12DB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077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65200E-32B4-4F5A-B311-9DCC76FAF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961B0-5EC7-4890-A0EB-86A108AF4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0ACC5-0875-4E07-8A28-8BCF83B95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4900-188E-4DC3-96E6-99D9675B3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D825F-FDE7-484E-84B4-9966DE526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DBBEF-FC4B-4F44-A244-F0FE4564B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C56A5E-EA9B-4FEB-A0FD-2386FEB3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353D0-70C5-4594-919C-F065CDE47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15FDBD-DC20-4E4F-9B5F-5F11B0146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810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6E1B3-A72F-4D2A-94CE-A678E707A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 anchorCtr="0"/>
          <a:lstStyle>
            <a:lvl1pPr algn="l"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ABE76-5ACB-4BE4-B46B-EAE595CAD8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28920-B350-44EB-A6D2-8C7917EB0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BC412-E77C-4857-BDF8-9CBA47854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13BAA-0590-4BB6-8329-3D50C158D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9DD94-A046-42E7-8478-AA879A424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454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767A2-731D-4D61-A128-DD329A62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54BE0D-35C1-4EBA-8D27-AB4F28F53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FAEA0-6188-4BCA-9936-D40496BFC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892FD-79B6-4EC3-B725-FB600946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74E9D-1A45-42A5-A923-E9748B3F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93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EA79EA-D7E8-445C-B5D5-8414B10CF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E78FAE-8400-4566-99BC-72B8451A21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B3A0-B99D-4B67-B95D-8172842FE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D1D7A-3BAC-4F4D-998C-ECBA6F9DD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BB05C-99C6-408E-927F-835B32494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506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F911E-A021-4FA1-93F6-42150D07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13C43-FC44-4A2B-86DE-BEB64887E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7145B-8B9E-4706-B6E0-73A36ED1AD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6B63C-CDDC-45F1-A941-1E23D4E8195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9BC06-E26C-40A6-A181-7F27BC34D5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D9C6-D83D-4A48-8B7A-214CD1D211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7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7DB36-990C-47F5-9AEA-61517AE1D1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640"/>
            <a:ext cx="9144000" cy="5426719"/>
          </a:xfrm>
        </p:spPr>
        <p:txBody>
          <a:bodyPr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UNIVERZITET U TUZLI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FAKULTET ELEKTROTEHNIKE</a:t>
            </a:r>
            <a:b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s-Latn-BA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Uporedna analiza Python i .NET okruženja za treniranje modela dubokog učenja na primjeru detekcije raka pluća</a:t>
            </a: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Student: Omar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Kurtović</a:t>
            </a:r>
            <a:b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Mentor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dr.sci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Damir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Demirović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vanr.prof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Tuzla, August 2026.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godine</a:t>
            </a:r>
            <a:endParaRPr lang="en-US" sz="2000" b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9740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A7B68-A7A1-41B4-9E17-A1182295B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</a:t>
            </a:r>
            <a:endParaRPr lang="en-US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088EF0A-B97F-44BE-88A0-40B675B1C3C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91" b="339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83B05-5000-4EC6-A370-B9403E40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pl-PL" sz="2000" dirty="0"/>
              <a:t>Python je standard za probleme mašinskog učenja</a:t>
            </a:r>
            <a:endParaRPr lang="en-US" sz="2000" dirty="0"/>
          </a:p>
          <a:p>
            <a:r>
              <a:rPr lang="en-US" sz="2000" dirty="0" err="1"/>
              <a:t>Veliki</a:t>
            </a:r>
            <a:r>
              <a:rPr lang="en-US" sz="2000" dirty="0"/>
              <a:t> </a:t>
            </a:r>
            <a:r>
              <a:rPr lang="en-US" sz="2000" dirty="0" err="1"/>
              <a:t>broj</a:t>
            </a:r>
            <a:r>
              <a:rPr lang="en-US" sz="2000" dirty="0"/>
              <a:t> </a:t>
            </a:r>
            <a:r>
              <a:rPr lang="en-US" sz="2000" dirty="0" err="1"/>
              <a:t>postojećih</a:t>
            </a:r>
            <a:r>
              <a:rPr lang="en-US" sz="2000" dirty="0"/>
              <a:t> </a:t>
            </a:r>
            <a:r>
              <a:rPr lang="en-US" sz="2000" dirty="0" err="1"/>
              <a:t>aplikacija</a:t>
            </a:r>
            <a:r>
              <a:rPr lang="en-US" sz="2000" dirty="0"/>
              <a:t> </a:t>
            </a:r>
            <a:r>
              <a:rPr lang="en-US" sz="2000" dirty="0" err="1"/>
              <a:t>gradi</a:t>
            </a:r>
            <a:r>
              <a:rPr lang="en-US" sz="2000" dirty="0"/>
              <a:t> se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drugim</a:t>
            </a:r>
            <a:r>
              <a:rPr lang="en-US" sz="2000" dirty="0"/>
              <a:t> </a:t>
            </a:r>
            <a:r>
              <a:rPr lang="en-US" sz="2000" dirty="0" err="1"/>
              <a:t>tehnologijama</a:t>
            </a:r>
            <a:r>
              <a:rPr lang="en-US" sz="2000" dirty="0"/>
              <a:t>: TypeScript/JavaScript, Java, C#/.NET, PHP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Integracija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rješenja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donosi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dodatnu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kompleksnost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Pitanje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/>
              <a:t>koje</a:t>
            </a:r>
            <a:r>
              <a:rPr lang="en-US" sz="2000" dirty="0"/>
              <a:t> </a:t>
            </a:r>
            <a:r>
              <a:rPr lang="en-US" sz="2000" dirty="0" err="1"/>
              <a:t>su</a:t>
            </a:r>
            <a:r>
              <a:rPr lang="en-US" sz="2000" dirty="0"/>
              <a:t> </a:t>
            </a:r>
            <a:r>
              <a:rPr lang="en-US" sz="2000" dirty="0" err="1"/>
              <a:t>prednosti</a:t>
            </a:r>
            <a:r>
              <a:rPr lang="en-US" sz="2000" dirty="0"/>
              <a:t> </a:t>
            </a:r>
            <a:r>
              <a:rPr lang="en-US" sz="2000" dirty="0" err="1"/>
              <a:t>i</a:t>
            </a:r>
            <a:r>
              <a:rPr lang="en-US" sz="2000" dirty="0"/>
              <a:t> mane </a:t>
            </a:r>
            <a:r>
              <a:rPr lang="en-US" sz="2000" dirty="0" err="1"/>
              <a:t>rješavanja</a:t>
            </a:r>
            <a:r>
              <a:rPr lang="en-US" sz="2000" dirty="0"/>
              <a:t> </a:t>
            </a:r>
            <a:r>
              <a:rPr lang="en-US" sz="2000" dirty="0" err="1"/>
              <a:t>problema</a:t>
            </a:r>
            <a:r>
              <a:rPr lang="en-US" sz="2000" dirty="0"/>
              <a:t> </a:t>
            </a:r>
            <a:r>
              <a:rPr lang="en-US" sz="2000" dirty="0" err="1"/>
              <a:t>mašinskog</a:t>
            </a:r>
            <a:r>
              <a:rPr lang="en-US" sz="2000" dirty="0"/>
              <a:t> </a:t>
            </a:r>
            <a:r>
              <a:rPr lang="en-US" sz="2000" dirty="0" err="1"/>
              <a:t>učenja</a:t>
            </a:r>
            <a:r>
              <a:rPr lang="en-US" sz="2000" dirty="0"/>
              <a:t> u </a:t>
            </a:r>
            <a:r>
              <a:rPr lang="en-US" sz="2000" dirty="0" err="1"/>
              <a:t>alternativnim</a:t>
            </a:r>
            <a:r>
              <a:rPr lang="en-US" sz="2000" dirty="0"/>
              <a:t> </a:t>
            </a:r>
            <a:r>
              <a:rPr lang="en-US" sz="2000" dirty="0" err="1"/>
              <a:t>ekosistemima</a:t>
            </a:r>
            <a:r>
              <a:rPr lang="en-US" sz="2000" dirty="0"/>
              <a:t>, </a:t>
            </a:r>
            <a:r>
              <a:rPr lang="en-US" sz="2000" dirty="0" err="1"/>
              <a:t>poput</a:t>
            </a:r>
            <a:r>
              <a:rPr lang="en-US" sz="2000" dirty="0"/>
              <a:t> .NET-a?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C7F9F0-2DEF-4CAE-BC7B-9E4C123832E7}"/>
              </a:ext>
            </a:extLst>
          </p:cNvPr>
          <p:cNvSpPr txBox="1"/>
          <p:nvPr/>
        </p:nvSpPr>
        <p:spPr>
          <a:xfrm>
            <a:off x="5183188" y="5940357"/>
            <a:ext cx="6172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Najčešće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korištena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za AI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projekte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Octoverse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4204437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CF110-AACF-4E04-B21A-4E7465087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Opis</a:t>
            </a:r>
            <a:r>
              <a:rPr lang="en-US" dirty="0"/>
              <a:t> </a:t>
            </a:r>
            <a:r>
              <a:rPr lang="en-US" dirty="0" err="1"/>
              <a:t>problema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5AAF4-CF89-4D12-B712-B5D660BF3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Poređenje</a:t>
            </a:r>
            <a:r>
              <a:rPr lang="en-US" dirty="0"/>
              <a:t> </a:t>
            </a:r>
            <a:r>
              <a:rPr lang="en-US" dirty="0" err="1"/>
              <a:t>ekosistema</a:t>
            </a:r>
            <a:r>
              <a:rPr lang="en-US" dirty="0"/>
              <a:t> </a:t>
            </a:r>
            <a:r>
              <a:rPr lang="en-US" dirty="0" err="1"/>
              <a:t>vrši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primjeru</a:t>
            </a:r>
            <a:r>
              <a:rPr lang="en-US" dirty="0"/>
              <a:t> — </a:t>
            </a:r>
            <a:r>
              <a:rPr lang="en-US" dirty="0" err="1"/>
              <a:t>detekciji</a:t>
            </a:r>
            <a:r>
              <a:rPr lang="en-US" dirty="0"/>
              <a:t> </a:t>
            </a:r>
            <a:r>
              <a:rPr lang="en-US" dirty="0" err="1"/>
              <a:t>raka</a:t>
            </a:r>
            <a:r>
              <a:rPr lang="en-US" dirty="0"/>
              <a:t> </a:t>
            </a:r>
            <a:r>
              <a:rPr lang="en-US" dirty="0" err="1"/>
              <a:t>pluća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dostupnim</a:t>
            </a:r>
            <a:r>
              <a:rPr lang="en-US" dirty="0"/>
              <a:t> </a:t>
            </a:r>
            <a:r>
              <a:rPr lang="en-US" dirty="0" err="1"/>
              <a:t>medicinskim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detekciju</a:t>
            </a:r>
            <a:r>
              <a:rPr lang="en-US" dirty="0"/>
              <a:t> je </a:t>
            </a:r>
            <a:r>
              <a:rPr lang="en-US" dirty="0" err="1"/>
              <a:t>implementirana</a:t>
            </a:r>
            <a:r>
              <a:rPr lang="en-US" dirty="0"/>
              <a:t> </a:t>
            </a:r>
            <a:r>
              <a:rPr lang="en-US" dirty="0" err="1"/>
              <a:t>konvoluciona</a:t>
            </a:r>
            <a:r>
              <a:rPr lang="en-US" dirty="0"/>
              <a:t> </a:t>
            </a:r>
            <a:r>
              <a:rPr lang="en-US" dirty="0" err="1"/>
              <a:t>neuralna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(CNN).</a:t>
            </a:r>
          </a:p>
          <a:p>
            <a:r>
              <a:rPr lang="en-US" dirty="0" err="1"/>
              <a:t>Evaluacija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standardnim</a:t>
            </a:r>
            <a:r>
              <a:rPr lang="en-US" dirty="0"/>
              <a:t> </a:t>
            </a:r>
            <a:r>
              <a:rPr lang="en-US" dirty="0" err="1"/>
              <a:t>klasifikacijskim</a:t>
            </a:r>
            <a:r>
              <a:rPr lang="en-US" dirty="0"/>
              <a:t> </a:t>
            </a:r>
            <a:r>
              <a:rPr lang="en-US" dirty="0" err="1"/>
              <a:t>metrikama</a:t>
            </a:r>
            <a:r>
              <a:rPr lang="en-US" dirty="0"/>
              <a:t>: </a:t>
            </a:r>
            <a:r>
              <a:rPr lang="en-US" dirty="0" err="1"/>
              <a:t>tačnost</a:t>
            </a:r>
            <a:r>
              <a:rPr lang="en-US" dirty="0"/>
              <a:t>, </a:t>
            </a:r>
            <a:r>
              <a:rPr lang="en-US" dirty="0" err="1"/>
              <a:t>preciznost</a:t>
            </a:r>
            <a:r>
              <a:rPr lang="en-US" dirty="0"/>
              <a:t>, </a:t>
            </a:r>
            <a:r>
              <a:rPr lang="en-US" dirty="0" err="1"/>
              <a:t>odziv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F1 </a:t>
            </a:r>
            <a:r>
              <a:rPr lang="en-US" dirty="0" err="1"/>
              <a:t>mjera</a:t>
            </a:r>
            <a:r>
              <a:rPr lang="en-US" dirty="0"/>
              <a:t>. </a:t>
            </a:r>
            <a:r>
              <a:rPr lang="en-US" dirty="0" err="1"/>
              <a:t>Dodatno</a:t>
            </a:r>
            <a:r>
              <a:rPr lang="en-US" dirty="0"/>
              <a:t> se </a:t>
            </a:r>
            <a:r>
              <a:rPr lang="en-US" dirty="0" err="1"/>
              <a:t>porede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implementacije</a:t>
            </a:r>
            <a:endParaRPr lang="en-US" dirty="0"/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D400194-B4B8-4E2B-B32F-6755728B20E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1" b="2861"/>
          <a:stretch>
            <a:fillRect/>
          </a:stretch>
        </p:blipFill>
        <p:spPr>
          <a:prstGeom prst="roundRect">
            <a:avLst>
              <a:gd name="adj" fmla="val 7156"/>
            </a:avLst>
          </a:prstGeom>
        </p:spPr>
      </p:pic>
    </p:spTree>
    <p:extLst>
      <p:ext uri="{BB962C8B-B14F-4D97-AF65-F5344CB8AC3E}">
        <p14:creationId xmlns:p14="http://schemas.microsoft.com/office/powerpoint/2010/main" val="3312300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66145-742D-4748-9401-149F1C80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Implementacija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63760-CF12-426E-A02A-08EEC6E9C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Za </a:t>
            </a:r>
            <a:r>
              <a:rPr lang="en-US" dirty="0" err="1"/>
              <a:t>implementaciju</a:t>
            </a:r>
            <a:r>
              <a:rPr lang="en-US" dirty="0"/>
              <a:t> </a:t>
            </a:r>
            <a:r>
              <a:rPr lang="en-US" dirty="0" err="1"/>
              <a:t>konvolucione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korištene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popularne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otvorenog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, </a:t>
            </a:r>
            <a:r>
              <a:rPr lang="en-US" dirty="0" err="1"/>
              <a:t>PyTorch</a:t>
            </a:r>
            <a:r>
              <a:rPr lang="en-US" dirty="0"/>
              <a:t> I </a:t>
            </a:r>
            <a:r>
              <a:rPr lang="en-US" dirty="0" err="1"/>
              <a:t>TorchSharp</a:t>
            </a:r>
            <a:r>
              <a:rPr lang="en-US" dirty="0"/>
              <a:t> za Python I .NET </a:t>
            </a:r>
            <a:r>
              <a:rPr lang="en-US" dirty="0" err="1"/>
              <a:t>okruženje</a:t>
            </a:r>
            <a:r>
              <a:rPr lang="en-US" dirty="0"/>
              <a:t> </a:t>
            </a:r>
            <a:r>
              <a:rPr lang="en-US" dirty="0" err="1"/>
              <a:t>respektivno</a:t>
            </a:r>
            <a:r>
              <a:rPr lang="en-US" dirty="0"/>
              <a:t>.</a:t>
            </a:r>
          </a:p>
          <a:p>
            <a:r>
              <a:rPr lang="en-US" dirty="0" err="1"/>
              <a:t>Obje</a:t>
            </a:r>
            <a:r>
              <a:rPr lang="en-US" dirty="0"/>
              <a:t> </a:t>
            </a:r>
            <a:r>
              <a:rPr lang="en-US" dirty="0" err="1"/>
              <a:t>navedene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takozvani</a:t>
            </a:r>
            <a:r>
              <a:rPr lang="en-US" dirty="0"/>
              <a:t> </a:t>
            </a:r>
            <a:r>
              <a:rPr lang="en-US" dirty="0" err="1"/>
              <a:t>wrapperi</a:t>
            </a:r>
            <a:r>
              <a:rPr lang="en-US" dirty="0"/>
              <a:t> koji </a:t>
            </a:r>
            <a:r>
              <a:rPr lang="en-US" dirty="0" err="1"/>
              <a:t>pozivaju</a:t>
            </a:r>
            <a:r>
              <a:rPr lang="en-US" dirty="0"/>
              <a:t> </a:t>
            </a:r>
            <a:r>
              <a:rPr lang="en-US" dirty="0" err="1"/>
              <a:t>internu</a:t>
            </a:r>
            <a:r>
              <a:rPr lang="en-US" dirty="0"/>
              <a:t> </a:t>
            </a:r>
            <a:r>
              <a:rPr lang="en-US" dirty="0" err="1"/>
              <a:t>logiku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LibTorch</a:t>
            </a:r>
            <a:r>
              <a:rPr lang="en-US" dirty="0"/>
              <a:t>. </a:t>
            </a:r>
            <a:r>
              <a:rPr lang="en-US" dirty="0" err="1"/>
              <a:t>LibTorch</a:t>
            </a:r>
            <a:r>
              <a:rPr lang="en-US" dirty="0"/>
              <a:t> je </a:t>
            </a:r>
            <a:r>
              <a:rPr lang="en-US" dirty="0" err="1"/>
              <a:t>napisana</a:t>
            </a:r>
            <a:r>
              <a:rPr lang="en-US" dirty="0"/>
              <a:t> u C++ u </a:t>
            </a:r>
            <a:r>
              <a:rPr lang="en-US" dirty="0" err="1"/>
              <a:t>kojoj</a:t>
            </a:r>
            <a:r>
              <a:rPr lang="en-US" dirty="0"/>
              <a:t> se </a:t>
            </a:r>
            <a:r>
              <a:rPr lang="en-US" dirty="0" err="1"/>
              <a:t>izvršava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.</a:t>
            </a:r>
          </a:p>
          <a:p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obje</a:t>
            </a:r>
            <a:r>
              <a:rPr lang="en-US" dirty="0"/>
              <a:t> date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koriste</a:t>
            </a:r>
            <a:r>
              <a:rPr lang="en-US" dirty="0"/>
              <a:t> </a:t>
            </a:r>
            <a:r>
              <a:rPr lang="en-US" dirty="0" err="1"/>
              <a:t>istu</a:t>
            </a:r>
            <a:r>
              <a:rPr lang="en-US" dirty="0"/>
              <a:t> </a:t>
            </a:r>
            <a:r>
              <a:rPr lang="en-US" dirty="0" err="1"/>
              <a:t>pozadinsku</a:t>
            </a:r>
            <a:r>
              <a:rPr lang="en-US" dirty="0"/>
              <a:t> </a:t>
            </a:r>
            <a:r>
              <a:rPr lang="en-US" dirty="0" err="1"/>
              <a:t>logiku</a:t>
            </a:r>
            <a:r>
              <a:rPr lang="en-US" dirty="0"/>
              <a:t>, </a:t>
            </a:r>
            <a:r>
              <a:rPr lang="en-US" dirty="0" err="1"/>
              <a:t>odabir</a:t>
            </a:r>
            <a:r>
              <a:rPr lang="en-US" dirty="0"/>
              <a:t> Python </a:t>
            </a:r>
            <a:r>
              <a:rPr lang="en-US" dirty="0" err="1"/>
              <a:t>ili</a:t>
            </a:r>
            <a:r>
              <a:rPr lang="en-US" dirty="0"/>
              <a:t> .NET </a:t>
            </a:r>
            <a:r>
              <a:rPr lang="en-US" dirty="0" err="1"/>
              <a:t>ekosistema</a:t>
            </a:r>
            <a:r>
              <a:rPr lang="en-US" dirty="0"/>
              <a:t> za </a:t>
            </a:r>
            <a:r>
              <a:rPr lang="en-US" dirty="0" err="1"/>
              <a:t>rješavanja</a:t>
            </a:r>
            <a:r>
              <a:rPr lang="en-US" dirty="0"/>
              <a:t> </a:t>
            </a:r>
            <a:r>
              <a:rPr lang="en-US" dirty="0" err="1"/>
              <a:t>datog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bi </a:t>
            </a:r>
            <a:r>
              <a:rPr lang="en-US" dirty="0" err="1"/>
              <a:t>teoretski</a:t>
            </a:r>
            <a:r>
              <a:rPr lang="en-US" dirty="0"/>
              <a:t> </a:t>
            </a:r>
            <a:r>
              <a:rPr lang="en-US" dirty="0" err="1"/>
              <a:t>trebalo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veoma</a:t>
            </a:r>
            <a:r>
              <a:rPr lang="en-US" dirty="0"/>
              <a:t> </a:t>
            </a:r>
            <a:r>
              <a:rPr lang="en-US" dirty="0" err="1"/>
              <a:t>slično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492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E29B-4DCC-472C-8716-0E4236202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Trening</a:t>
            </a:r>
            <a:r>
              <a:rPr lang="en-US" dirty="0"/>
              <a:t> </a:t>
            </a:r>
            <a:r>
              <a:rPr lang="en-US" dirty="0" err="1"/>
              <a:t>podaci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49CA4-95EA-4E69-8738-C94E406BB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Za </a:t>
            </a:r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konvolucione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korišten</a:t>
            </a:r>
            <a:r>
              <a:rPr lang="en-US" dirty="0"/>
              <a:t> je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 Kaggle IQ-OTH/NCCD(</a:t>
            </a:r>
            <a:r>
              <a:rPr lang="en-US" dirty="0" err="1"/>
              <a:t>eng.</a:t>
            </a:r>
            <a:r>
              <a:rPr lang="en-US" dirty="0"/>
              <a:t> </a:t>
            </a:r>
            <a:r>
              <a:rPr lang="hr-HR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Iraq-Oncology Teaching Hospital</a:t>
            </a:r>
            <a:r>
              <a:rPr lang="en-GB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/National </a:t>
            </a:r>
            <a:r>
              <a:rPr lang="en-GB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Center</a:t>
            </a:r>
            <a:r>
              <a:rPr lang="en-GB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for Cancer Diseases).</a:t>
            </a:r>
          </a:p>
          <a:p>
            <a:pPr marL="0" indent="0">
              <a:buNone/>
            </a:pP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110 </a:t>
            </a:r>
            <a:r>
              <a:rPr lang="en-US" dirty="0" err="1"/>
              <a:t>slučajeva</a:t>
            </a:r>
            <a:r>
              <a:rPr lang="en-US" dirty="0"/>
              <a:t>,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kojih</a:t>
            </a:r>
            <a:r>
              <a:rPr lang="en-US" dirty="0"/>
              <a:t> je </a:t>
            </a:r>
            <a:r>
              <a:rPr lang="en-US" dirty="0" err="1"/>
              <a:t>izdvojeno</a:t>
            </a:r>
            <a:r>
              <a:rPr lang="en-US" dirty="0"/>
              <a:t> 1190 </a:t>
            </a:r>
            <a:r>
              <a:rPr lang="en-US" dirty="0" err="1"/>
              <a:t>slika</a:t>
            </a:r>
            <a:r>
              <a:rPr lang="en-US" dirty="0"/>
              <a:t>,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grupisane</a:t>
            </a:r>
            <a:r>
              <a:rPr lang="en-US" dirty="0"/>
              <a:t> u 3 </a:t>
            </a:r>
            <a:r>
              <a:rPr lang="en-US" dirty="0" err="1"/>
              <a:t>klase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 err="1"/>
              <a:t>Maligno</a:t>
            </a:r>
            <a:r>
              <a:rPr lang="en-US" dirty="0"/>
              <a:t>: 40 </a:t>
            </a:r>
            <a:r>
              <a:rPr lang="en-US" dirty="0" err="1"/>
              <a:t>slučajeva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Benigno</a:t>
            </a:r>
            <a:r>
              <a:rPr lang="en-US" dirty="0"/>
              <a:t>: 15 </a:t>
            </a:r>
            <a:r>
              <a:rPr lang="en-US" dirty="0" err="1"/>
              <a:t>slučajeva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Normalno</a:t>
            </a:r>
            <a:r>
              <a:rPr lang="en-US" dirty="0"/>
              <a:t>: 55 </a:t>
            </a:r>
            <a:r>
              <a:rPr lang="en-US" dirty="0" err="1"/>
              <a:t>slučajeva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54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2994B-8B2B-4805-ADBB-2737DB2F4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Arhitektura</a:t>
            </a:r>
            <a:r>
              <a:rPr lang="en-US" dirty="0"/>
              <a:t> CNN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6351B-9930-4AAD-8CF3-F9E9D24CA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Implementirana</a:t>
            </a:r>
            <a:r>
              <a:rPr lang="en-US" dirty="0"/>
              <a:t> </a:t>
            </a:r>
            <a:r>
              <a:rPr lang="en-US" dirty="0" err="1"/>
              <a:t>konvoluciona</a:t>
            </a:r>
            <a:r>
              <a:rPr lang="en-US" dirty="0"/>
              <a:t> </a:t>
            </a:r>
            <a:r>
              <a:rPr lang="en-US" dirty="0" err="1"/>
              <a:t>neuronska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se </a:t>
            </a:r>
            <a:r>
              <a:rPr lang="en-US" dirty="0" err="1"/>
              <a:t>sastoji</a:t>
            </a:r>
            <a:r>
              <a:rPr lang="en-US" dirty="0"/>
              <a:t> od </a:t>
            </a:r>
            <a:r>
              <a:rPr lang="en-US" dirty="0" err="1"/>
              <a:t>slijedećih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88947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2665</TotalTime>
  <Words>587</Words>
  <Application>Microsoft Office PowerPoint</Application>
  <PresentationFormat>Widescreen</PresentationFormat>
  <Paragraphs>36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 UNIVERZITET U TUZLI FAKULTET ELEKTROTEHNIKE  Uporedna analiza Python i .NET okruženja za treniranje modela dubokog učenja na primjeru detekcije raka pluća  Student: Omar Kurtović Mentor: dr.sci. Damir Demirović, vanr.prof. Tuzla, August 2026. godine</vt:lpstr>
      <vt:lpstr>Cilj rada</vt:lpstr>
      <vt:lpstr>Opis problema</vt:lpstr>
      <vt:lpstr>Implementacija </vt:lpstr>
      <vt:lpstr>Trening podaci</vt:lpstr>
      <vt:lpstr>Arhitektura CNN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Komparativna analiza ML metodologija</dc:title>
  <dc:creator>Administrator</dc:creator>
  <cp:lastModifiedBy>Administrator</cp:lastModifiedBy>
  <cp:revision>28</cp:revision>
  <dcterms:created xsi:type="dcterms:W3CDTF">2026-05-21T11:24:01Z</dcterms:created>
  <dcterms:modified xsi:type="dcterms:W3CDTF">2026-08-17T16:52:34Z</dcterms:modified>
</cp:coreProperties>
</file>